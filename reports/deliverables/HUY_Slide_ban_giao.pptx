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eb1c12d8d0e4cab" /><Relationship Type="http://schemas.openxmlformats.org/officeDocument/2006/relationships/extended-properties" Target="/docProps/app.xml" Id="Ra02692b093234409" /><Relationship Type="http://schemas.openxmlformats.org/officeDocument/2006/relationships/officeDocument" Target="/ppt/presentation.xml" Id="R7130b92c1cc94901" /></Relationships>
</file>

<file path=ppt/presentation.xml><?xml version="1.0" encoding="utf-8"?>
<p:presentation xmlns:p="http://schemas.openxmlformats.org/presentationml/2006/main">
  <p:sldMasterIdLst>
    <p:sldMasterId xmlns:r="http://schemas.openxmlformats.org/officeDocument/2006/relationships" id="2147483648" r:id="R77a273ef2d9c42f4"/>
  </p:sldMasterIdLst>
  <p:notesMasterIdLst>
    <p:notesMasterId xmlns:r="http://schemas.openxmlformats.org/officeDocument/2006/relationships" r:id="Rfe71804df7044cdb"/>
  </p:notesMasterIdLst>
  <p:sldIdLst>
    <p:sldId xmlns:r="http://schemas.openxmlformats.org/officeDocument/2006/relationships" id="256" r:id="Rb15c6f21ef8a4c29"/>
    <p:sldId xmlns:r="http://schemas.openxmlformats.org/officeDocument/2006/relationships" id="257" r:id="R7154e9341f3649b9"/>
    <p:sldId xmlns:r="http://schemas.openxmlformats.org/officeDocument/2006/relationships" id="258" r:id="R62bc265fa0f24318"/>
    <p:sldId xmlns:r="http://schemas.openxmlformats.org/officeDocument/2006/relationships" id="259" r:id="Rf7f666c54d8e4c7c"/>
    <p:sldId xmlns:r="http://schemas.openxmlformats.org/officeDocument/2006/relationships" id="260" r:id="Rf3393cab0bf74d3e"/>
    <p:sldId xmlns:r="http://schemas.openxmlformats.org/officeDocument/2006/relationships" id="261" r:id="R8d42d0644f1446a0"/>
    <p:sldId xmlns:r="http://schemas.openxmlformats.org/officeDocument/2006/relationships" id="262" r:id="R0e41e86378714061"/>
    <p:sldId xmlns:r="http://schemas.openxmlformats.org/officeDocument/2006/relationships" id="263" r:id="Re18d36eba35547ee"/>
    <p:sldId xmlns:r="http://schemas.openxmlformats.org/officeDocument/2006/relationships" id="264" r:id="Rb17e05d7abc548d8"/>
    <p:sldId xmlns:r="http://schemas.openxmlformats.org/officeDocument/2006/relationships" id="265" r:id="Rf3e74dbfddfe4e56"/>
    <p:sldId xmlns:r="http://schemas.openxmlformats.org/officeDocument/2006/relationships" id="266" r:id="R15b5e6d514174aeb"/>
    <p:sldId xmlns:r="http://schemas.openxmlformats.org/officeDocument/2006/relationships" id="267" r:id="Rce2a059bef0d46f2"/>
    <p:sldId xmlns:r="http://schemas.openxmlformats.org/officeDocument/2006/relationships" id="268" r:id="R29c06b56e0c14a3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d6578c03e6442c5" /><Relationship Type="http://schemas.openxmlformats.org/officeDocument/2006/relationships/slideMaster" Target="/ppt/slideMasters/slideMaster1.xml" Id="R77a273ef2d9c42f4" /><Relationship Type="http://schemas.openxmlformats.org/officeDocument/2006/relationships/notesMaster" Target="/ppt/notesMasters/notesMaster1.xml" Id="Rfe71804df7044cdb" /><Relationship Type="http://schemas.openxmlformats.org/officeDocument/2006/relationships/presProps" Target="/ppt/presProps.xml" Id="Rac977647ba5a4f06" /><Relationship Type="http://schemas.openxmlformats.org/officeDocument/2006/relationships/tableStyles" Target="/ppt/tableStyles.xml" Id="R02f4eb027cd14b08" /><Relationship Type="http://schemas.openxmlformats.org/officeDocument/2006/relationships/slide" Target="/ppt/slides/slide1.xml" Id="Rb15c6f21ef8a4c29" /><Relationship Type="http://schemas.openxmlformats.org/officeDocument/2006/relationships/slide" Target="/ppt/slides/slide2.xml" Id="R7154e9341f3649b9" /><Relationship Type="http://schemas.openxmlformats.org/officeDocument/2006/relationships/slide" Target="/ppt/slides/slide3.xml" Id="R62bc265fa0f24318" /><Relationship Type="http://schemas.openxmlformats.org/officeDocument/2006/relationships/slide" Target="/ppt/slides/slide4.xml" Id="Rf7f666c54d8e4c7c" /><Relationship Type="http://schemas.openxmlformats.org/officeDocument/2006/relationships/slide" Target="/ppt/slides/slide5.xml" Id="Rf3393cab0bf74d3e" /><Relationship Type="http://schemas.openxmlformats.org/officeDocument/2006/relationships/slide" Target="/ppt/slides/slide6.xml" Id="R8d42d0644f1446a0" /><Relationship Type="http://schemas.openxmlformats.org/officeDocument/2006/relationships/slide" Target="/ppt/slides/slide7.xml" Id="R0e41e86378714061" /><Relationship Type="http://schemas.openxmlformats.org/officeDocument/2006/relationships/slide" Target="/ppt/slides/slide8.xml" Id="Re18d36eba35547ee" /><Relationship Type="http://schemas.openxmlformats.org/officeDocument/2006/relationships/slide" Target="/ppt/slides/slide9.xml" Id="Rb17e05d7abc548d8" /><Relationship Type="http://schemas.openxmlformats.org/officeDocument/2006/relationships/slide" Target="/ppt/slides/slide10.xml" Id="Rf3e74dbfddfe4e56" /><Relationship Type="http://schemas.openxmlformats.org/officeDocument/2006/relationships/slide" Target="/ppt/slides/slide11.xml" Id="R15b5e6d514174aeb" /><Relationship Type="http://schemas.openxmlformats.org/officeDocument/2006/relationships/slide" Target="/ppt/slides/slide12.xml" Id="Rce2a059bef0d46f2" /><Relationship Type="http://schemas.openxmlformats.org/officeDocument/2006/relationships/slide" Target="/ppt/slides/slide13.xml" Id="R29c06b56e0c14a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d1cfa2444fc4b5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98b619ca4934557" /><Relationship Type="http://schemas.openxmlformats.org/officeDocument/2006/relationships/notesMaster" Target="/ppt/notesMasters/notesMaster1.xml" Id="R07d8c3515e9a4d3e" /></Relationships>
</file>

<file path=ppt/notesSlides/_rels/notesSlide2.xml.rels>&#65279;<?xml version="1.0" encoding="utf-8"?><Relationships xmlns="http://schemas.openxmlformats.org/package/2006/relationships"><Relationship Type="http://schemas.openxmlformats.org/officeDocument/2006/relationships/slide" Target="/ppt/slides/slide2.xml" Id="Rbd815d618cf54ba4" /><Relationship Type="http://schemas.openxmlformats.org/officeDocument/2006/relationships/notesMaster" Target="/ppt/notesMasters/notesMaster1.xml" Id="R30874b4bcced4ef3" /></Relationships>
</file>

<file path=ppt/notesSlides/_rels/notesSlide3.xml.rels>&#65279;<?xml version="1.0" encoding="utf-8"?><Relationships xmlns="http://schemas.openxmlformats.org/package/2006/relationships"><Relationship Type="http://schemas.openxmlformats.org/officeDocument/2006/relationships/slide" Target="/ppt/slides/slide3.xml" Id="Rf4166eb8a1c94452" /><Relationship Type="http://schemas.openxmlformats.org/officeDocument/2006/relationships/notesMaster" Target="/ppt/notesMasters/notesMaster1.xml" Id="R150a2e6f770b47fa" /></Relationships>
</file>

<file path=ppt/notesSlides/_rels/notesSlide4.xml.rels>&#65279;<?xml version="1.0" encoding="utf-8"?><Relationships xmlns="http://schemas.openxmlformats.org/package/2006/relationships"><Relationship Type="http://schemas.openxmlformats.org/officeDocument/2006/relationships/slide" Target="/ppt/slides/slide4.xml" Id="R9fc1b76642154525" /><Relationship Type="http://schemas.openxmlformats.org/officeDocument/2006/relationships/notesMaster" Target="/ppt/notesMasters/notesMaster1.xml" Id="R362e4a4ba4174c58" /></Relationships>
</file>

<file path=ppt/notesSlides/_rels/notesSlide5.xml.rels>&#65279;<?xml version="1.0" encoding="utf-8"?><Relationships xmlns="http://schemas.openxmlformats.org/package/2006/relationships"><Relationship Type="http://schemas.openxmlformats.org/officeDocument/2006/relationships/slide" Target="/ppt/slides/slide5.xml" Id="R6d6cdb4c1d8f452b" /><Relationship Type="http://schemas.openxmlformats.org/officeDocument/2006/relationships/notesMaster" Target="/ppt/notesMasters/notesMaster1.xml" Id="Rdb9d079f69a443b0" /></Relationships>
</file>

<file path=ppt/notesSlides/_rels/notesSlide6.xml.rels>&#65279;<?xml version="1.0" encoding="utf-8"?><Relationships xmlns="http://schemas.openxmlformats.org/package/2006/relationships"><Relationship Type="http://schemas.openxmlformats.org/officeDocument/2006/relationships/slide" Target="/ppt/slides/slide6.xml" Id="R50c0e41d237649fd" /><Relationship Type="http://schemas.openxmlformats.org/officeDocument/2006/relationships/notesMaster" Target="/ppt/notesMasters/notesMaster1.xml" Id="Rafde678248e54f60" /></Relationships>
</file>

<file path=ppt/notesSlides/_rels/notesSlide7.xml.rels>&#65279;<?xml version="1.0" encoding="utf-8"?><Relationships xmlns="http://schemas.openxmlformats.org/package/2006/relationships"><Relationship Type="http://schemas.openxmlformats.org/officeDocument/2006/relationships/slide" Target="/ppt/slides/slide7.xml" Id="Rbd895c20381546af" /><Relationship Type="http://schemas.openxmlformats.org/officeDocument/2006/relationships/notesMaster" Target="/ppt/notesMasters/notesMaster1.xml" Id="Rc4b90ce9025c4843" /></Relationships>
</file>

<file path=ppt/notesSlides/_rels/notesSlide8.xml.rels>&#65279;<?xml version="1.0" encoding="utf-8"?><Relationships xmlns="http://schemas.openxmlformats.org/package/2006/relationships"><Relationship Type="http://schemas.openxmlformats.org/officeDocument/2006/relationships/slide" Target="/ppt/slides/slide8.xml" Id="R3fb13bbfb3db4187" /><Relationship Type="http://schemas.openxmlformats.org/officeDocument/2006/relationships/notesMaster" Target="/ppt/notesMasters/notesMaster1.xml" Id="R1ff02277ab2b4264" /></Relationships>
</file>

<file path=ppt/notesSlides/_rels/notesSlide9.xml.rels>&#65279;<?xml version="1.0" encoding="utf-8"?><Relationships xmlns="http://schemas.openxmlformats.org/package/2006/relationships"><Relationship Type="http://schemas.openxmlformats.org/officeDocument/2006/relationships/slide" Target="/ppt/slides/slide9.xml" Id="Reee00ac077ae4810" /><Relationship Type="http://schemas.openxmlformats.org/officeDocument/2006/relationships/notesMaster" Target="/ppt/notesMasters/notesMaster1.xml" Id="R99addd915b3f42f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86f51f3698f43d4" /><Relationship Type="http://schemas.openxmlformats.org/officeDocument/2006/relationships/notesMaster" Target="/ppt/notesMasters/notesMaster1.xml" Id="Rd10902ee6b244c6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c193ee567c04dd9" /><Relationship Type="http://schemas.openxmlformats.org/officeDocument/2006/relationships/notesMaster" Target="/ppt/notesMasters/notesMaster1.xml" Id="R66d4eb012a2f476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f3990e4ba674d47" /><Relationship Type="http://schemas.openxmlformats.org/officeDocument/2006/relationships/notesMaster" Target="/ppt/notesMasters/notesMaster1.xml" Id="Ra2ff7725a4ec4f3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77f7839beb44ae3" /><Relationship Type="http://schemas.openxmlformats.org/officeDocument/2006/relationships/notesMaster" Target="/ppt/notesMasters/notesMaster1.xml" Id="R3fd1cf299f6b460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Hàn mở đầu, 20 giây. Tên đề tài vận dụng các mô hình hồi quy đã học; không gọi là hệ thống định giá thực tế. Source: config/experiment_config.json, outputs/tables/model_comparison_cv_vs_test.csv.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thành viên tự giới thiệu, tổng 30 giây. Tên trên file phân công là Hàn và Huy; chưa xác minh tên đầy đủ, MSSV, ngành. Nếu học online, nhóm bổ sung ảnh thật và webcam động đủ cả hai người. Source: reports/PHAN_CONG_2_NGUOI_IE313.xlsx; Skill/SKILL.md mục hướng dẫn Buổi10.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Hàn, 35 giây. Đây là phân tích dữ liệu trong source, không tự thu thập. Codex hỗ trợ code, chạy kiểm chứng và bản thảo phần Huy; Hàn khai AI/nguồn thật phần mình trước nộp. Source: README.md, reports/REPORT_B_SECTIONS.md.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Hàn, 45 giây. Số dòng/cột đối chiếu CSV. realSum giữ nguyên; README ghi EUR nhưng kỳ giá chưa xác minh. Không ghép cùng listing theo tọa độ. Source: data/processed/airbnb_combined.csv; config/experiment_config.json; reports/A_RECHECK_20261013.json.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Hàn, 45 giây. Phần mô tả này là các bước thực tế. Tiền xử lý nằm trong fold, không fit scaler trên toàn bộ trước CV. Manifest keys cố định, test không thuộc CV. Source: src/experiment.py, config/experiment_config.json, data/processed/split_manifest.csv.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Huy, 50 giây. Mean 279,88 cao hơn median 211,34; skew21,42. Hình trục log để hiển thị, không đổi target mô hình. Shared chỉ366mẫu nên luôn đọc n. Source: outputs/figures/b_02_price_by_room_type.png; reports/eda_findings.md.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Huy, 50 giây. Amsterdam median weekdays430,25 n1103,weekends491,65 n977,chênh61,40. So sánh hai tập quan sát; không nói cùng phòng tăng cuối tuần. Cơ cấu room_type khác cũng ảnh hưởng. Source: outputs/tables/eda_day_comparison_by_city.csv; eda_day_comparison_by_room.csv.</a:t>
            </a:r>
          </a:p>
          <a:p xmlns:a="http://schemas.openxmlformats.org/drawingml/2006/main">
            <a:r>
              <a:t>Dữ liệu median trong chart làm tròn hai chữ số thập phân để hiển thị; bảng CSV giữ giá trị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Huy, 45 giây. Pearson mô tả tuyến tính, không nhân quả. rglobal nhỏ không được dùng loại toàn bộ biến. Biến allowlist cố định ý nghĩa; có bảng full/train riêng. Source: outputs/tables/pearson_price_evidence.csv; reports/eda_findings.md.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Huy, 40 giây. F/p/n luôn đi cùng phân phối. p underflow không nghĩa exactzero. ANOVA không khẳng định mọi cặp khác, pkhôngđộlớntácđộng. Independence và variances không bảo đảm, dùng kỹ thuật môn có giới hạn. Source: outputs/tables/anova_price_evidence.csv; anova_group_details.csv.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Hàn nói M0–M2, Huy nói M3–M4; tổng55giây. Polynomial chỉ trên3biếncore rồi ghépremaining/context, không gọi toàn10biến là degree3. M1interceptkhônggiásàn, unitkhôngEURđêm. Source: src/experiment.py; outputs/tables/a_models_cv_summary.csv; b_models_cv_summary.csv.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Huy, 50giây. ChọnM3degree3lowestcv79228,00,trướcxemtest. M3vsM2chênh760,15(~.95%) chưachứngminhưu thếổnđịnh. TrainCVkhôngtest. Source: outputs/tables/model_comparison_cv_vs_test.csv; config/experiment_config.json.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Huy, 60giây. M3rawMSE97156,55/RMSE311,70/MAE102,02/R².1912 giảmMSE19.12% vsM0sameholdout. 1%lỗilớn86.08%SSE;167negativegiữnguyên khôngposthocclip. Huy mở hình phần dư và cases khi demo. Source: model_comparison_cv_vs_test.csv; b_residual_summary.json; b_residual_error_concentration.csv.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Hàn+Huy tổng45giây. Không thêm hướngpháttriển. Report kếtluậnkhôngmôhìnhngoài. Diễn giải cải thiệnso baselinechứkhônghứachấtlượngđịnhgiá; khôngkếtluậnnhânquảgianlận. Source: reports/b_residual_findings.md.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8859b05d7e9498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310ce13fc6c440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21b0209fa6d4ce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18700fa254e4c0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0bb8914fc7f4e1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67c7caad5e3406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94EBA51-916B-4451-B354-858B44C8B24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102ED21-BAD2-4EF9-8EE6-96130224439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110A96A-DD86-4CED-8456-407F6E10588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9332DD-DAB9-46F8-80BB-177FFC036E2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60B1BAB-8282-4934-B285-B10A4EA6253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8A49D27-7A3B-4BEF-A4F9-8309B6DA819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1A10958-5369-4C67-A5A3-4D22B9EEF33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8960EA1-77F6-4E4E-9817-8650625D6E1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B4CB1D3-9539-4CBF-8828-375C1E2B67B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E351952-9D96-4F44-8170-16A183E489F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58b75e7afbb4da7" /><Relationship Type="http://schemas.openxmlformats.org/officeDocument/2006/relationships/slideLayout" Target="/ppt/slideLayouts/slideLayout1.xml" Id="Rc4b2b8aa32c24e19" /><Relationship Type="http://schemas.openxmlformats.org/officeDocument/2006/relationships/slideLayout" Target="/ppt/slideLayouts/slideLayout2.xml" Id="R36516fb9a4094160" /><Relationship Type="http://schemas.openxmlformats.org/officeDocument/2006/relationships/slideLayout" Target="/ppt/slideLayouts/slideLayout3.xml" Id="R23de961a5ae54957" /><Relationship Type="http://schemas.openxmlformats.org/officeDocument/2006/relationships/slideLayout" Target="/ppt/slideLayouts/slideLayout4.xml" Id="R05866f89612c4491" /><Relationship Type="http://schemas.openxmlformats.org/officeDocument/2006/relationships/slideLayout" Target="/ppt/slideLayouts/slideLayout5.xml" Id="R297b4675e5b64bd2" /><Relationship Type="http://schemas.openxmlformats.org/officeDocument/2006/relationships/slideLayout" Target="/ppt/slideLayouts/slideLayout6.xml" Id="R3490a03f7ce34a6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4b2b8aa32c24e19"/>
    <p:sldLayoutId xmlns:r="http://schemas.openxmlformats.org/officeDocument/2006/relationships" id="2147483650" r:id="R36516fb9a4094160"/>
    <p:sldLayoutId xmlns:r="http://schemas.openxmlformats.org/officeDocument/2006/relationships" id="2147483651" r:id="R23de961a5ae54957"/>
    <p:sldLayoutId xmlns:r="http://schemas.openxmlformats.org/officeDocument/2006/relationships" id="2147483652" r:id="R05866f89612c4491"/>
    <p:sldLayoutId xmlns:r="http://schemas.openxmlformats.org/officeDocument/2006/relationships" id="2147483653" r:id="R297b4675e5b64bd2"/>
    <p:sldLayoutId xmlns:r="http://schemas.openxmlformats.org/officeDocument/2006/relationships" id="2147483654" r:id="R3490a03f7ce34a6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74fe46f31c34634" /><Relationship Type="http://schemas.openxmlformats.org/officeDocument/2006/relationships/notesSlide" Target="/ppt/notesSlides/notesSlide1.xml" Id="Rb9d1373ba9a943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2cd6be9cd4f4b6b" /><Relationship Type="http://schemas.openxmlformats.org/officeDocument/2006/relationships/notesSlide" Target="/ppt/notesSlides/notesSlide2.xml" Id="R96785cdd228946c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dc679c2a58f4e76" /><Relationship Type="http://schemas.openxmlformats.org/officeDocument/2006/relationships/notesSlide" Target="/ppt/notesSlides/notesSlide3.xml" Id="Rde1032c91053411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e6a5faf42e047b5" /><Relationship Type="http://schemas.openxmlformats.org/officeDocument/2006/relationships/notesSlide" Target="/ppt/notesSlides/notesSlide4.xml" Id="Rb0a8abab28d64cf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92b0a962af34239" /><Relationship Type="http://schemas.openxmlformats.org/officeDocument/2006/relationships/notesSlide" Target="/ppt/notesSlides/notesSlide5.xml" Id="R94da741eab114c7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5071d9eaa4b4d03" /><Relationship Type="http://schemas.openxmlformats.org/officeDocument/2006/relationships/image" Target="/ppt/media/image.png" Id="Ra4adca2b47224aff" /><Relationship Type="http://schemas.openxmlformats.org/officeDocument/2006/relationships/notesSlide" Target="/ppt/notesSlides/notesSlide6.xml" Id="R65822fda435b488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2f0a153503541ce" /><Relationship Type="http://schemas.openxmlformats.org/officeDocument/2006/relationships/chart" Target="/ppt/slides/charts/chart1.xml" Id="R78504bc126e14aee" /><Relationship Type="http://schemas.openxmlformats.org/officeDocument/2006/relationships/notesSlide" Target="/ppt/notesSlides/notesSlide7.xml" Id="Rd94f360ab8914f4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a86d2180e064c24" /><Relationship Type="http://schemas.openxmlformats.org/officeDocument/2006/relationships/notesSlide" Target="/ppt/notesSlides/notesSlide8.xml" Id="R614ae4a77e9d4b7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6446ae21794480f" /><Relationship Type="http://schemas.openxmlformats.org/officeDocument/2006/relationships/notesSlide" Target="/ppt/notesSlides/notesSlide9.xml" Id="R0657dbc81932467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5f097ae4d5640a1" /><Relationship Type="http://schemas.openxmlformats.org/officeDocument/2006/relationships/notesSlide" Target="/ppt/notesSlides/notesSlide10.xml" Id="R497995616606454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4db0daff594461c" /><Relationship Type="http://schemas.openxmlformats.org/officeDocument/2006/relationships/notesSlide" Target="/ppt/notesSlides/notesSlide11.xml" Id="R1baf3c70b77a4c8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a6a051a2179490d" /><Relationship Type="http://schemas.openxmlformats.org/officeDocument/2006/relationships/notesSlide" Target="/ppt/notesSlides/notesSlide12.xml" Id="R229f8381a6a445f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f8859b805664ad3" /><Relationship Type="http://schemas.openxmlformats.org/officeDocument/2006/relationships/notesSlide" Target="/ppt/notesSlides/notesSlide13.xml" Id="R69a01f7a5e86404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Weekdays</c:v>
          </c:tx>
          <c:spPr>
            <a:solidFill xmlns:a="http://schemas.openxmlformats.org/drawingml/2006/main">
              <a:srgbClr val="147A93"/>
            </a:solidFill>
          </c:spPr>
          <c:cat>
            <c:strRef>
              <c:f>'Chart Data'!$A$2:$A$11</c:f>
              <c:strCache>
                <c:ptCount val="10"/>
                <c:pt idx="0">
                  <c:v>amsterdam</c:v>
                </c:pt>
                <c:pt idx="1">
                  <c:v>athens</c:v>
                </c:pt>
                <c:pt idx="2">
                  <c:v>barcelona</c:v>
                </c:pt>
                <c:pt idx="3">
                  <c:v>berlin</c:v>
                </c:pt>
                <c:pt idx="4">
                  <c:v>budapest</c:v>
                </c:pt>
                <c:pt idx="5">
                  <c:v>lisbon</c:v>
                </c:pt>
                <c:pt idx="6">
                  <c:v>london</c:v>
                </c:pt>
                <c:pt idx="7">
                  <c:v>paris</c:v>
                </c:pt>
                <c:pt idx="8">
                  <c:v>rome</c:v>
                </c:pt>
                <c:pt idx="9">
                  <c:v>vienna</c:v>
                </c:pt>
              </c:strCache>
            </c:strRef>
          </c:cat>
          <c:val>
            <c:numRef>
              <c:f>'Chart Data'!$B$2:$B$11</c:f>
              <c:numCache>
                <c:formatCode>0.00</c:formatCode>
                <c:ptCount val="10"/>
                <c:pt idx="0">
                  <c:v>430.25</c:v>
                </c:pt>
                <c:pt idx="1">
                  <c:v>127.72</c:v>
                </c:pt>
                <c:pt idx="2">
                  <c:v>208.53</c:v>
                </c:pt>
                <c:pt idx="3">
                  <c:v>187.79</c:v>
                </c:pt>
                <c:pt idx="4">
                  <c:v>147.46</c:v>
                </c:pt>
                <c:pt idx="5">
                  <c:v>223.03</c:v>
                </c:pt>
                <c:pt idx="6">
                  <c:v>256.36</c:v>
                </c:pt>
                <c:pt idx="7">
                  <c:v>318.53</c:v>
                </c:pt>
                <c:pt idx="8">
                  <c:v>179.79</c:v>
                </c:pt>
                <c:pt idx="9">
                  <c:v>204.52</c:v>
                </c:pt>
              </c:numCache>
            </c:numRef>
          </c:val>
        </c:ser>
        <c:ser>
          <c:idx val="1"/>
          <c:order val="1"/>
          <c:tx>
            <c:v>Weekends</c:v>
          </c:tx>
          <c:spPr>
            <a:solidFill xmlns:a="http://schemas.openxmlformats.org/drawingml/2006/main">
              <a:srgbClr val="D28452"/>
            </a:solidFill>
          </c:spPr>
          <c:cat>
            <c:strRef>
              <c:f>'Chart Data'!$C$2:$C$11</c:f>
              <c:strCache>
                <c:ptCount val="10"/>
                <c:pt idx="0">
                  <c:v>amsterdam</c:v>
                </c:pt>
                <c:pt idx="1">
                  <c:v>athens</c:v>
                </c:pt>
                <c:pt idx="2">
                  <c:v>barcelona</c:v>
                </c:pt>
                <c:pt idx="3">
                  <c:v>berlin</c:v>
                </c:pt>
                <c:pt idx="4">
                  <c:v>budapest</c:v>
                </c:pt>
                <c:pt idx="5">
                  <c:v>lisbon</c:v>
                </c:pt>
                <c:pt idx="6">
                  <c:v>london</c:v>
                </c:pt>
                <c:pt idx="7">
                  <c:v>paris</c:v>
                </c:pt>
                <c:pt idx="8">
                  <c:v>rome</c:v>
                </c:pt>
                <c:pt idx="9">
                  <c:v>vienna</c:v>
                </c:pt>
              </c:strCache>
            </c:strRef>
          </c:cat>
          <c:val>
            <c:numRef>
              <c:f>'Chart Data'!$D$2:$D$11</c:f>
              <c:numCache>
                <c:formatCode>0.00</c:formatCode>
                <c:ptCount val="10"/>
                <c:pt idx="0">
                  <c:v>491.65</c:v>
                </c:pt>
                <c:pt idx="1">
                  <c:v>127.72</c:v>
                </c:pt>
                <c:pt idx="2">
                  <c:v>204.69</c:v>
                </c:pt>
                <c:pt idx="3">
                  <c:v>192.46</c:v>
                </c:pt>
                <c:pt idx="4">
                  <c:v>160.03</c:v>
                </c:pt>
                <c:pt idx="5">
                  <c:v>227.72</c:v>
                </c:pt>
                <c:pt idx="6">
                  <c:v>268.12</c:v>
                </c:pt>
                <c:pt idx="7">
                  <c:v>316.2</c:v>
                </c:pt>
                <c:pt idx="8">
                  <c:v>184.46</c:v>
                </c:pt>
                <c:pt idx="9">
                  <c:v>212</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CE4E9"/>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1">
            <a:extLst xmlns:a="http://schemas.openxmlformats.org/drawingml/2006/main">
              <a:ext uri="{FF2B5EF4-FFF2-40B4-BE49-F238E27FC236}">
                <a16:creationId xmlns:a16="http://schemas.microsoft.com/office/drawing/2014/main" id="{73CA31AF-2C6C-4A61-8C42-8DEC56CF6C5D}"/>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54A"/>
                </a:solidFill>
                <a:latin typeface="Arial"/>
                <a:ea typeface="Arial"/>
                <a:cs typeface="Arial"/>
              </a:defRPr>
            </a:defPPr>
          </a:lstStyle>
          <a:p xmlns:a="http://schemas.openxmlformats.org/drawingml/2006/main">
            <a:pPr>
              <a:defRPr sz="3150" b="1">
                <a:solidFill>
                  <a:srgbClr val="17354A"/>
                </a:solidFill>
                <a:latin typeface="Arial"/>
                <a:ea typeface="Arial"/>
                <a:cs typeface="Arial"/>
              </a:defRPr>
            </a:pPr>
            <a:r>
              <a:rPr sz="3150" b="1">
                <a:solidFill>
                  <a:srgbClr val="17354A"/>
                </a:solidFill>
                <a:latin typeface="Arial"/>
                <a:ea typeface="Arial"/>
                <a:cs typeface="Arial"/>
              </a:rPr>
              <a:t>Phân tích và dự đoán giá Airbnb</a:t>
            </a:r>
          </a:p>
        </p:txBody>
      </p:sp>
      <p:sp>
        <p:nvSpPr>
          <p:cNvPr id="2" name="text-2">
            <a:extLst xmlns:a="http://schemas.openxmlformats.org/drawingml/2006/main">
              <a:ext uri="{FF2B5EF4-FFF2-40B4-BE49-F238E27FC236}">
                <a16:creationId xmlns:a16="http://schemas.microsoft.com/office/drawing/2014/main" id="{60B8A458-8778-4862-9D56-F7CBFD696DEF}"/>
              </a:ext>
            </a:extLst>
          </p:cNvPr>
          <p:cNvSpPr>
            <a:spLocks xmlns:a="http://schemas.openxmlformats.org/drawingml/2006/main" noGrp="1"/>
          </p:cNvSpPr>
          <p:nvPr/>
        </p:nvSpPr>
        <p:spPr>
          <a:xfrm xmlns:a="http://schemas.openxmlformats.org/drawingml/2006/main">
            <a:off x="11182350" y="64293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65B69"/>
                </a:solidFill>
                <a:latin typeface="Arial"/>
                <a:ea typeface="Arial"/>
                <a:cs typeface="Arial"/>
              </a:defRPr>
            </a:defPPr>
          </a:lstStyle>
          <a:p xmlns:a="http://schemas.openxmlformats.org/drawingml/2006/main">
            <a:pPr>
              <a:defRPr sz="1350" b="0">
                <a:solidFill>
                  <a:srgbClr val="465B69"/>
                </a:solidFill>
                <a:latin typeface="Arial"/>
                <a:ea typeface="Arial"/>
                <a:cs typeface="Arial"/>
              </a:defRPr>
            </a:pPr>
            <a:r>
              <a:rPr sz="1350" b="0">
                <a:solidFill>
                  <a:srgbClr val="465B69"/>
                </a:solidFill>
                <a:latin typeface="Arial"/>
                <a:ea typeface="Arial"/>
                <a:cs typeface="Arial"/>
              </a:rPr>
              <a:t>1</a:t>
            </a:r>
          </a:p>
        </p:txBody>
      </p:sp>
      <p:sp>
        <p:nvSpPr>
          <p:cNvPr id="3" name="text-3">
            <a:extLst xmlns:a="http://schemas.openxmlformats.org/drawingml/2006/main">
              <a:ext uri="{FF2B5EF4-FFF2-40B4-BE49-F238E27FC236}">
                <a16:creationId xmlns:a16="http://schemas.microsoft.com/office/drawing/2014/main" id="{6A0AD2CF-B7C1-496A-A28A-3F303962557E}"/>
              </a:ext>
            </a:extLst>
          </p:cNvPr>
          <p:cNvSpPr>
            <a:spLocks xmlns:a="http://schemas.openxmlformats.org/drawingml/2006/main" noGrp="1"/>
          </p:cNvSpPr>
          <p:nvPr/>
        </p:nvSpPr>
        <p:spPr>
          <a:xfrm xmlns:a="http://schemas.openxmlformats.org/drawingml/2006/main">
            <a:off x="609600" y="1809750"/>
            <a:ext cx="109728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47A93"/>
                </a:solidFill>
                <a:latin typeface="Arial"/>
                <a:ea typeface="Arial"/>
                <a:cs typeface="Arial"/>
              </a:defRPr>
            </a:defPPr>
          </a:lstStyle>
          <a:p xmlns:a="http://schemas.openxmlformats.org/drawingml/2006/main">
            <a:pPr>
              <a:defRPr sz="3600" b="1">
                <a:solidFill>
                  <a:srgbClr val="147A93"/>
                </a:solidFill>
                <a:latin typeface="Arial"/>
                <a:ea typeface="Arial"/>
                <a:cs typeface="Arial"/>
              </a:defRPr>
            </a:pPr>
            <a:r>
              <a:rPr sz="3600" b="1">
                <a:solidFill>
                  <a:srgbClr val="147A93"/>
                </a:solidFill>
                <a:latin typeface="Arial"/>
                <a:ea typeface="Arial"/>
                <a:cs typeface="Arial"/>
              </a:rPr>
              <a:t>Tại 10 thành phố châu Âu</a:t>
            </a:r>
          </a:p>
          <a:p xmlns:a="http://schemas.openxmlformats.org/drawingml/2006/main">
            <a:pPr>
              <a:defRPr sz="3600" b="1">
                <a:solidFill>
                  <a:srgbClr val="147A93"/>
                </a:solidFill>
                <a:latin typeface="Arial"/>
                <a:ea typeface="Arial"/>
                <a:cs typeface="Arial"/>
              </a:defRPr>
            </a:pPr>
            <a:r>
              <a:rPr sz="3600" b="1">
                <a:solidFill>
                  <a:srgbClr val="147A93"/>
                </a:solidFill>
                <a:latin typeface="Arial"/>
                <a:ea typeface="Arial"/>
                <a:cs typeface="Arial"/>
              </a:rPr>
              <a:t>Bằng các mô hình hồi quy</a:t>
            </a:r>
          </a:p>
        </p:txBody>
      </p:sp>
      <p:sp>
        <p:nvSpPr>
          <p:cNvPr id="4" name="text-4">
            <a:extLst xmlns:a="http://schemas.openxmlformats.org/drawingml/2006/main">
              <a:ext uri="{FF2B5EF4-FFF2-40B4-BE49-F238E27FC236}">
                <a16:creationId xmlns:a16="http://schemas.microsoft.com/office/drawing/2014/main" id="{CD01AB7E-5CDB-4816-941C-D75A8794BFA3}"/>
              </a:ext>
            </a:extLst>
          </p:cNvPr>
          <p:cNvSpPr>
            <a:spLocks xmlns:a="http://schemas.openxmlformats.org/drawingml/2006/main" noGrp="1"/>
          </p:cNvSpPr>
          <p:nvPr/>
        </p:nvSpPr>
        <p:spPr>
          <a:xfrm xmlns:a="http://schemas.openxmlformats.org/drawingml/2006/main">
            <a:off x="609600" y="42195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2B3A"/>
                </a:solidFill>
                <a:latin typeface="Arial"/>
                <a:ea typeface="Arial"/>
                <a:cs typeface="Arial"/>
              </a:defRPr>
            </a:defPPr>
          </a:lstStyle>
          <a:p xmlns:a="http://schemas.openxmlformats.org/drawingml/2006/main">
            <a:pPr>
              <a:defRPr sz="2250" b="0">
                <a:solidFill>
                  <a:srgbClr val="172B3A"/>
                </a:solidFill>
                <a:latin typeface="Arial"/>
                <a:ea typeface="Arial"/>
                <a:cs typeface="Arial"/>
              </a:defRPr>
            </a:pPr>
            <a:r>
              <a:rPr sz="2250" b="0">
                <a:solidFill>
                  <a:srgbClr val="172B3A"/>
                </a:solidFill>
                <a:latin typeface="Arial"/>
                <a:ea typeface="Arial"/>
                <a:cs typeface="Arial"/>
              </a:rPr>
              <a:t>IE313   Phân tích và trực quan hóa dữ liệu</a:t>
            </a:r>
          </a:p>
          <a:p xmlns:a="http://schemas.openxmlformats.org/drawingml/2006/main">
            <a:pPr>
              <a:defRPr sz="2250" b="0">
                <a:solidFill>
                  <a:srgbClr val="172B3A"/>
                </a:solidFill>
                <a:latin typeface="Arial"/>
                <a:ea typeface="Arial"/>
                <a:cs typeface="Arial"/>
              </a:defRPr>
            </a:pPr>
            <a:r>
              <a:rPr sz="2250" b="0">
                <a:solidFill>
                  <a:srgbClr val="172B3A"/>
                </a:solidFill>
                <a:latin typeface="Arial"/>
                <a:ea typeface="Arial"/>
                <a:cs typeface="Arial"/>
              </a:rPr>
              <a:t>Nhóm Hàn và Huy</a:t>
            </a:r>
          </a:p>
        </p:txBody>
      </p:sp>
      <p:sp>
        <p:nvSpPr>
          <p:cNvPr id="5" name="text-5">
            <a:extLst xmlns:a="http://schemas.openxmlformats.org/drawingml/2006/main">
              <a:ext uri="{FF2B5EF4-FFF2-40B4-BE49-F238E27FC236}">
                <a16:creationId xmlns:a16="http://schemas.microsoft.com/office/drawing/2014/main" id="{6EE5E1C0-12F2-45EA-80DB-3F02D34289BD}"/>
              </a:ext>
            </a:extLst>
          </p:cNvPr>
          <p:cNvSpPr>
            <a:spLocks xmlns:a="http://schemas.openxmlformats.org/drawingml/2006/main" noGrp="1"/>
          </p:cNvSpPr>
          <p:nvPr/>
        </p:nvSpPr>
        <p:spPr>
          <a:xfrm xmlns:a="http://schemas.openxmlformats.org/drawingml/2006/main">
            <a:off x="609600" y="57054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465B69"/>
                </a:solidFill>
                <a:latin typeface="Arial"/>
                <a:ea typeface="Arial"/>
                <a:cs typeface="Arial"/>
              </a:defRPr>
            </a:defPPr>
          </a:lstStyle>
          <a:p xmlns:a="http://schemas.openxmlformats.org/drawingml/2006/main">
            <a:pPr>
              <a:defRPr sz="1800" b="0">
                <a:solidFill>
                  <a:srgbClr val="465B69"/>
                </a:solidFill>
                <a:latin typeface="Arial"/>
                <a:ea typeface="Arial"/>
                <a:cs typeface="Arial"/>
              </a:defRPr>
            </a:pPr>
            <a:r>
              <a:rPr sz="1800" b="0">
                <a:solidFill>
                  <a:srgbClr val="465B69"/>
                </a:solidFill>
                <a:latin typeface="Arial"/>
                <a:ea typeface="Arial"/>
                <a:cs typeface="Arial"/>
              </a:rPr>
              <a:t>Mã nhóm chưa được cung cấp</a:t>
            </a:r>
          </a:p>
        </p:txBody>
      </p:sp>
    </p:spTree>
    <p:extLst>
      <p:ext uri="{BB962C8B-B14F-4D97-AF65-F5344CB8AC3E}">
        <p14:creationId xmlns:p14="http://schemas.microsoft.com/office/powerpoint/2010/main" val="177258840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1">
            <a:extLst xmlns:a="http://schemas.openxmlformats.org/drawingml/2006/main">
              <a:ext uri="{FF2B5EF4-FFF2-40B4-BE49-F238E27FC236}">
                <a16:creationId xmlns:a16="http://schemas.microsoft.com/office/drawing/2014/main" id="{E17E32D8-88A6-4D32-B4D2-D97122B5F031}"/>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54A"/>
                </a:solidFill>
                <a:latin typeface="Arial"/>
                <a:ea typeface="Arial"/>
                <a:cs typeface="Arial"/>
              </a:defRPr>
            </a:defPPr>
          </a:lstStyle>
          <a:p xmlns:a="http://schemas.openxmlformats.org/drawingml/2006/main">
            <a:pPr>
              <a:defRPr sz="3150" b="1">
                <a:solidFill>
                  <a:srgbClr val="17354A"/>
                </a:solidFill>
                <a:latin typeface="Arial"/>
                <a:ea typeface="Arial"/>
                <a:cs typeface="Arial"/>
              </a:defRPr>
            </a:pPr>
            <a:r>
              <a:rPr sz="3150" b="1">
                <a:solidFill>
                  <a:srgbClr val="17354A"/>
                </a:solidFill>
                <a:latin typeface="Arial"/>
                <a:ea typeface="Arial"/>
                <a:cs typeface="Arial"/>
              </a:rPr>
              <a:t>Thành viên và phần thực hiện</a:t>
            </a:r>
          </a:p>
        </p:txBody>
      </p:sp>
      <p:sp>
        <p:nvSpPr>
          <p:cNvPr id="2" name="text-2">
            <a:extLst xmlns:a="http://schemas.openxmlformats.org/drawingml/2006/main">
              <a:ext uri="{FF2B5EF4-FFF2-40B4-BE49-F238E27FC236}">
                <a16:creationId xmlns:a16="http://schemas.microsoft.com/office/drawing/2014/main" id="{1079BFD4-98AB-4A7A-A343-31E66068E0BA}"/>
              </a:ext>
            </a:extLst>
          </p:cNvPr>
          <p:cNvSpPr>
            <a:spLocks xmlns:a="http://schemas.openxmlformats.org/drawingml/2006/main" noGrp="1"/>
          </p:cNvSpPr>
          <p:nvPr/>
        </p:nvSpPr>
        <p:spPr>
          <a:xfrm xmlns:a="http://schemas.openxmlformats.org/drawingml/2006/main">
            <a:off x="11182350" y="64293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65B69"/>
                </a:solidFill>
                <a:latin typeface="Arial"/>
                <a:ea typeface="Arial"/>
                <a:cs typeface="Arial"/>
              </a:defRPr>
            </a:defPPr>
          </a:lstStyle>
          <a:p xmlns:a="http://schemas.openxmlformats.org/drawingml/2006/main">
            <a:pPr>
              <a:defRPr sz="1350" b="0">
                <a:solidFill>
                  <a:srgbClr val="465B69"/>
                </a:solidFill>
                <a:latin typeface="Arial"/>
                <a:ea typeface="Arial"/>
                <a:cs typeface="Arial"/>
              </a:defRPr>
            </a:pPr>
            <a:r>
              <a:rPr sz="1350" b="0">
                <a:solidFill>
                  <a:srgbClr val="465B69"/>
                </a:solidFill>
                <a:latin typeface="Arial"/>
                <a:ea typeface="Arial"/>
                <a:cs typeface="Arial"/>
              </a:rPr>
              <a:t>2</a:t>
            </a:r>
          </a:p>
        </p:txBody>
      </p:sp>
      <p:graphicFrame>
        <p:nvGraphicFramePr>
          <p:cNvPr id="3" name="">
            <a:extLst xmlns:a="http://schemas.openxmlformats.org/drawingml/2006/main">
              <a:ext uri="{FF2B5EF4-FFF2-40B4-BE49-F238E27FC236}">
                <a16:creationId xmlns:a16="http://schemas.microsoft.com/office/drawing/2014/main" id="{9D1195CA-93A2-49D6-AE0A-834BB15C8EB0}"/>
              </a:ext>
            </a:extLst>
          </p:cNvPr>
          <p:cNvGraphicFramePr/>
          <p:nvPr/>
        </p:nvGraphicFramePr>
        <p:xfrm>
          <a:off xmlns:a="http://schemas.openxmlformats.org/drawingml/2006/main" x="609600" y="1476375"/>
          <a:ext xmlns:a="http://schemas.openxmlformats.org/drawingml/2006/main" cx="10972800" cy="2667000"/>
        </p:xfrm>
        <a:graphic xmlns:a="http://schemas.openxmlformats.org/drawingml/2006/main">
          <a:graphicData uri="http://schemas.openxmlformats.org/drawingml/2006/table">
            <a:tbl>
              <a:tblPr/>
              <a:tblGrid>
                <a:gridCol w="2476500"/>
                <a:gridCol w="8496300"/>
              </a:tblGrid>
              <a:tr h="889000">
                <a:tc>
                  <a:txBody>
                    <a:bodyPr/>
                    <a:lstStyle/>
                    <a:p>
                      <a:r>
                        <a:rPr sz="2100" b="1">
                          <a:solidFill>
                            <a:srgbClr val="FFFFFF"/>
                          </a:solidFill>
                          <a:latin typeface="Arial"/>
                          <a:ea typeface="Arial"/>
                          <a:cs typeface="Arial"/>
                        </a:rPr>
                        <a:t>Thành viên</a:t>
                      </a:r>
                    </a:p>
                  </a:txBody>
                  <a:tcPr marL="91440" marR="91440" marT="45720" marB="45720">
                    <a:solidFill>
                      <a:srgbClr val="17354A"/>
                    </a:solidFill>
                  </a:tcPr>
                </a:tc>
                <a:tc>
                  <a:txBody>
                    <a:bodyPr/>
                    <a:lstStyle/>
                    <a:p>
                      <a:r>
                        <a:rPr sz="2100" b="1">
                          <a:solidFill>
                            <a:srgbClr val="FFFFFF"/>
                          </a:solidFill>
                          <a:latin typeface="Arial"/>
                          <a:ea typeface="Arial"/>
                          <a:cs typeface="Arial"/>
                        </a:rPr>
                        <a:t>Phần chuyên môn</a:t>
                      </a:r>
                    </a:p>
                  </a:txBody>
                  <a:tcPr marL="91440" marR="91440" marT="45720" marB="45720">
                    <a:solidFill>
                      <a:srgbClr val="17354A"/>
                    </a:solidFill>
                  </a:tcPr>
                </a:tc>
              </a:tr>
              <a:tr h="889000">
                <a:tc>
                  <a:txBody>
                    <a:bodyPr/>
                    <a:lstStyle/>
                    <a:p>
                      <a:r>
                        <a:rPr sz="2100" b="0">
                          <a:solidFill>
                            <a:srgbClr val="172B3A"/>
                          </a:solidFill>
                          <a:latin typeface="Arial"/>
                          <a:ea typeface="Arial"/>
                          <a:cs typeface="Arial"/>
                        </a:rPr>
                        <a:t>Hàn</a:t>
                      </a:r>
                    </a:p>
                  </a:txBody>
                  <a:tcPr marL="91440" marR="91440" marT="45720" marB="45720">
                    <a:solidFill>
                      <a:srgbClr val="F1F6F8"/>
                    </a:solidFill>
                  </a:tcPr>
                </a:tc>
                <a:tc>
                  <a:txBody>
                    <a:bodyPr/>
                    <a:lstStyle/>
                    <a:p>
                      <a:r>
                        <a:rPr sz="2100" b="0">
                          <a:solidFill>
                            <a:srgbClr val="172B3A"/>
                          </a:solidFill>
                          <a:latin typeface="Arial"/>
                          <a:ea typeface="Arial"/>
                          <a:cs typeface="Arial"/>
                        </a:rPr>
                        <a:t>Dữ liệu, audit, M0–M2, tích hợp báo cáo/demo</a:t>
                      </a:r>
                    </a:p>
                  </a:txBody>
                  <a:tcPr marL="91440" marR="91440" marT="45720" marB="45720">
                    <a:solidFill>
                      <a:srgbClr val="F1F6F8"/>
                    </a:solidFill>
                  </a:tcPr>
                </a:tc>
              </a:tr>
              <a:tr h="889000">
                <a:tc>
                  <a:txBody>
                    <a:bodyPr/>
                    <a:lstStyle/>
                    <a:p>
                      <a:r>
                        <a:rPr sz="2100" b="0">
                          <a:solidFill>
                            <a:srgbClr val="172B3A"/>
                          </a:solidFill>
                          <a:latin typeface="Arial"/>
                          <a:ea typeface="Arial"/>
                          <a:cs typeface="Arial"/>
                        </a:rPr>
                        <a:t>Huy</a:t>
                      </a:r>
                    </a:p>
                  </a:txBody>
                  <a:tcPr marL="91440" marR="91440" marT="45720" marB="45720">
                    <a:solidFill>
                      <a:srgbClr val="FFFFFF"/>
                    </a:solidFill>
                  </a:tcPr>
                </a:tc>
                <a:tc>
                  <a:txBody>
                    <a:bodyPr/>
                    <a:lstStyle/>
                    <a:p>
                      <a:r>
                        <a:rPr sz="2100" b="0">
                          <a:solidFill>
                            <a:srgbClr val="172B3A"/>
                          </a:solidFill>
                          <a:latin typeface="Arial"/>
                          <a:ea typeface="Arial"/>
                          <a:cs typeface="Arial"/>
                        </a:rPr>
                        <a:t>EDA, kiểm định, M3–M4, phần dư, kết quả và slide</a:t>
                      </a:r>
                    </a:p>
                  </a:txBody>
                  <a:tcPr marL="91440" marR="91440" marT="45720" marB="45720">
                    <a:solidFill>
                      <a:srgbClr val="FFFFFF"/>
                    </a:solidFill>
                  </a:tcPr>
                </a:tc>
              </a:tr>
            </a:tbl>
          </a:graphicData>
        </a:graphic>
      </p:graphicFrame>
      <p:sp>
        <p:nvSpPr>
          <p:cNvPr id="4" name="text-3">
            <a:extLst xmlns:a="http://schemas.openxmlformats.org/drawingml/2006/main">
              <a:ext uri="{FF2B5EF4-FFF2-40B4-BE49-F238E27FC236}">
                <a16:creationId xmlns:a16="http://schemas.microsoft.com/office/drawing/2014/main" id="{E44B7D4C-B15D-4102-B3FB-D678B086E23B}"/>
              </a:ext>
            </a:extLst>
          </p:cNvPr>
          <p:cNvSpPr>
            <a:spLocks xmlns:a="http://schemas.openxmlformats.org/drawingml/2006/main" noGrp="1"/>
          </p:cNvSpPr>
          <p:nvPr/>
        </p:nvSpPr>
        <p:spPr>
          <a:xfrm xmlns:a="http://schemas.openxmlformats.org/drawingml/2006/main">
            <a:off x="609600" y="47148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465B69"/>
                </a:solidFill>
                <a:latin typeface="Arial"/>
                <a:ea typeface="Arial"/>
                <a:cs typeface="Arial"/>
              </a:defRPr>
            </a:defPPr>
          </a:lstStyle>
          <a:p xmlns:a="http://schemas.openxmlformats.org/drawingml/2006/main">
            <a:pPr>
              <a:defRPr sz="2100" b="0">
                <a:solidFill>
                  <a:srgbClr val="465B69"/>
                </a:solidFill>
                <a:latin typeface="Arial"/>
                <a:ea typeface="Arial"/>
                <a:cs typeface="Arial"/>
              </a:defRPr>
            </a:pPr>
            <a:r>
              <a:rPr sz="2100" b="0">
                <a:solidFill>
                  <a:srgbClr val="465B69"/>
                </a:solidFill>
                <a:latin typeface="Arial"/>
                <a:ea typeface="Arial"/>
                <a:cs typeface="Arial"/>
              </a:rPr>
              <a:t>Tên đầy đủ, MSSV và ngành chưa được cung cấp</a:t>
            </a:r>
          </a:p>
        </p:txBody>
      </p:sp>
    </p:spTree>
    <p:extLst>
      <p:ext uri="{BB962C8B-B14F-4D97-AF65-F5344CB8AC3E}">
        <p14:creationId xmlns:p14="http://schemas.microsoft.com/office/powerpoint/2010/main" val="75355848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1">
            <a:extLst xmlns:a="http://schemas.openxmlformats.org/drawingml/2006/main">
              <a:ext uri="{FF2B5EF4-FFF2-40B4-BE49-F238E27FC236}">
                <a16:creationId xmlns:a16="http://schemas.microsoft.com/office/drawing/2014/main" id="{720629D5-9A1E-43C7-ACE8-9C8A89CD2B4C}"/>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54A"/>
                </a:solidFill>
                <a:latin typeface="Arial"/>
                <a:ea typeface="Arial"/>
                <a:cs typeface="Arial"/>
              </a:defRPr>
            </a:defPPr>
          </a:lstStyle>
          <a:p xmlns:a="http://schemas.openxmlformats.org/drawingml/2006/main">
            <a:pPr>
              <a:defRPr sz="3150" b="1">
                <a:solidFill>
                  <a:srgbClr val="17354A"/>
                </a:solidFill>
                <a:latin typeface="Arial"/>
                <a:ea typeface="Arial"/>
                <a:cs typeface="Arial"/>
              </a:defRPr>
            </a:pPr>
            <a:r>
              <a:rPr sz="3150" b="1">
                <a:solidFill>
                  <a:srgbClr val="17354A"/>
                </a:solidFill>
                <a:latin typeface="Arial"/>
                <a:ea typeface="Arial"/>
                <a:cs typeface="Arial"/>
              </a:rPr>
              <a:t>Mục tiêu và minh bạch</a:t>
            </a:r>
          </a:p>
        </p:txBody>
      </p:sp>
      <p:sp>
        <p:nvSpPr>
          <p:cNvPr id="2" name="text-2">
            <a:extLst xmlns:a="http://schemas.openxmlformats.org/drawingml/2006/main">
              <a:ext uri="{FF2B5EF4-FFF2-40B4-BE49-F238E27FC236}">
                <a16:creationId xmlns:a16="http://schemas.microsoft.com/office/drawing/2014/main" id="{4F951039-A221-4C8D-A725-E1795E176C5C}"/>
              </a:ext>
            </a:extLst>
          </p:cNvPr>
          <p:cNvSpPr>
            <a:spLocks xmlns:a="http://schemas.openxmlformats.org/drawingml/2006/main" noGrp="1"/>
          </p:cNvSpPr>
          <p:nvPr/>
        </p:nvSpPr>
        <p:spPr>
          <a:xfrm xmlns:a="http://schemas.openxmlformats.org/drawingml/2006/main">
            <a:off x="11182350" y="64293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65B69"/>
                </a:solidFill>
                <a:latin typeface="Arial"/>
                <a:ea typeface="Arial"/>
                <a:cs typeface="Arial"/>
              </a:defRPr>
            </a:defPPr>
          </a:lstStyle>
          <a:p xmlns:a="http://schemas.openxmlformats.org/drawingml/2006/main">
            <a:pPr>
              <a:defRPr sz="1350" b="0">
                <a:solidFill>
                  <a:srgbClr val="465B69"/>
                </a:solidFill>
                <a:latin typeface="Arial"/>
                <a:ea typeface="Arial"/>
                <a:cs typeface="Arial"/>
              </a:defRPr>
            </a:pPr>
            <a:r>
              <a:rPr sz="1350" b="0">
                <a:solidFill>
                  <a:srgbClr val="465B69"/>
                </a:solidFill>
                <a:latin typeface="Arial"/>
                <a:ea typeface="Arial"/>
                <a:cs typeface="Arial"/>
              </a:rPr>
              <a:t>3</a:t>
            </a:r>
          </a:p>
        </p:txBody>
      </p:sp>
      <p:sp>
        <p:nvSpPr>
          <p:cNvPr id="3" name="text-3">
            <a:extLst xmlns:a="http://schemas.openxmlformats.org/drawingml/2006/main">
              <a:ext uri="{FF2B5EF4-FFF2-40B4-BE49-F238E27FC236}">
                <a16:creationId xmlns:a16="http://schemas.microsoft.com/office/drawing/2014/main" id="{154D190F-C69E-477F-80D2-2CE53C192EA8}"/>
              </a:ext>
            </a:extLst>
          </p:cNvPr>
          <p:cNvSpPr>
            <a:spLocks xmlns:a="http://schemas.openxmlformats.org/drawingml/2006/main" noGrp="1"/>
          </p:cNvSpPr>
          <p:nvPr/>
        </p:nvSpPr>
        <p:spPr>
          <a:xfrm xmlns:a="http://schemas.openxmlformats.org/drawingml/2006/main">
            <a:off x="609600" y="14763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B3A"/>
                </a:solidFill>
                <a:latin typeface="Arial"/>
                <a:ea typeface="Arial"/>
                <a:cs typeface="Arial"/>
              </a:defRPr>
            </a:defPPr>
          </a:lstStyle>
          <a:p xmlns:a="http://schemas.openxmlformats.org/drawingml/2006/main">
            <a:pPr>
              <a:defRPr sz="2400" b="0">
                <a:solidFill>
                  <a:srgbClr val="172B3A"/>
                </a:solidFill>
                <a:latin typeface="Arial"/>
                <a:ea typeface="Arial"/>
                <a:cs typeface="Arial"/>
              </a:defRPr>
            </a:pPr>
            <a:r>
              <a:rPr sz="2400" b="0">
                <a:solidFill>
                  <a:srgbClr val="172B3A"/>
                </a:solidFill>
                <a:latin typeface="Arial"/>
                <a:ea typeface="Arial"/>
                <a:cs typeface="Arial"/>
              </a:rPr>
              <a:t>Mô tả giá và khác biệt giữa các nhóm quan sát</a:t>
            </a:r>
          </a:p>
        </p:txBody>
      </p:sp>
      <p:sp>
        <p:nvSpPr>
          <p:cNvPr id="4" name="text-4">
            <a:extLst xmlns:a="http://schemas.openxmlformats.org/drawingml/2006/main">
              <a:ext uri="{FF2B5EF4-FFF2-40B4-BE49-F238E27FC236}">
                <a16:creationId xmlns:a16="http://schemas.microsoft.com/office/drawing/2014/main" id="{2F925424-79DF-4263-8839-C563D941EE79}"/>
              </a:ext>
            </a:extLst>
          </p:cNvPr>
          <p:cNvSpPr>
            <a:spLocks xmlns:a="http://schemas.openxmlformats.org/drawingml/2006/main" noGrp="1"/>
          </p:cNvSpPr>
          <p:nvPr/>
        </p:nvSpPr>
        <p:spPr>
          <a:xfrm xmlns:a="http://schemas.openxmlformats.org/drawingml/2006/main">
            <a:off x="609600" y="2428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B3A"/>
                </a:solidFill>
                <a:latin typeface="Arial"/>
                <a:ea typeface="Arial"/>
                <a:cs typeface="Arial"/>
              </a:defRPr>
            </a:defPPr>
          </a:lstStyle>
          <a:p xmlns:a="http://schemas.openxmlformats.org/drawingml/2006/main">
            <a:pPr>
              <a:defRPr sz="2400" b="0">
                <a:solidFill>
                  <a:srgbClr val="172B3A"/>
                </a:solidFill>
                <a:latin typeface="Arial"/>
                <a:ea typeface="Arial"/>
                <a:cs typeface="Arial"/>
              </a:defRPr>
            </a:pPr>
            <a:r>
              <a:rPr sz="2400" b="0">
                <a:solidFill>
                  <a:srgbClr val="172B3A"/>
                </a:solidFill>
                <a:latin typeface="Arial"/>
                <a:ea typeface="Arial"/>
                <a:cs typeface="Arial"/>
              </a:rPr>
              <a:t>So sánh năm mô hình bằng cùng CV và holdout</a:t>
            </a:r>
          </a:p>
        </p:txBody>
      </p:sp>
      <p:sp>
        <p:nvSpPr>
          <p:cNvPr id="5" name="text-5">
            <a:extLst xmlns:a="http://schemas.openxmlformats.org/drawingml/2006/main">
              <a:ext uri="{FF2B5EF4-FFF2-40B4-BE49-F238E27FC236}">
                <a16:creationId xmlns:a16="http://schemas.microsoft.com/office/drawing/2014/main" id="{F2175652-67F7-4C80-855F-C30E35E711A2}"/>
              </a:ext>
            </a:extLst>
          </p:cNvPr>
          <p:cNvSpPr>
            <a:spLocks xmlns:a="http://schemas.openxmlformats.org/drawingml/2006/main" noGrp="1"/>
          </p:cNvSpPr>
          <p:nvPr/>
        </p:nvSpPr>
        <p:spPr>
          <a:xfrm xmlns:a="http://schemas.openxmlformats.org/drawingml/2006/main">
            <a:off x="609600" y="33813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B3A"/>
                </a:solidFill>
                <a:latin typeface="Arial"/>
                <a:ea typeface="Arial"/>
                <a:cs typeface="Arial"/>
              </a:defRPr>
            </a:defPPr>
          </a:lstStyle>
          <a:p xmlns:a="http://schemas.openxmlformats.org/drawingml/2006/main">
            <a:pPr>
              <a:defRPr sz="2400" b="0">
                <a:solidFill>
                  <a:srgbClr val="172B3A"/>
                </a:solidFill>
                <a:latin typeface="Arial"/>
                <a:ea typeface="Arial"/>
                <a:cs typeface="Arial"/>
              </a:defRPr>
            </a:pPr>
            <a:r>
              <a:rPr sz="2400" b="0">
                <a:solidFill>
                  <a:srgbClr val="172B3A"/>
                </a:solidFill>
                <a:latin typeface="Arial"/>
                <a:ea typeface="Arial"/>
                <a:cs typeface="Arial"/>
              </a:rPr>
              <a:t>Dùng 20 CSV cung cấp trong source dự án</a:t>
            </a:r>
          </a:p>
        </p:txBody>
      </p:sp>
      <p:sp>
        <p:nvSpPr>
          <p:cNvPr id="6" name="text-6">
            <a:extLst xmlns:a="http://schemas.openxmlformats.org/drawingml/2006/main">
              <a:ext uri="{FF2B5EF4-FFF2-40B4-BE49-F238E27FC236}">
                <a16:creationId xmlns:a16="http://schemas.microsoft.com/office/drawing/2014/main" id="{81A64D71-E956-46C2-9070-8C79E64803AB}"/>
              </a:ext>
            </a:extLst>
          </p:cNvPr>
          <p:cNvSpPr>
            <a:spLocks xmlns:a="http://schemas.openxmlformats.org/drawingml/2006/main" noGrp="1"/>
          </p:cNvSpPr>
          <p:nvPr/>
        </p:nvSpPr>
        <p:spPr>
          <a:xfrm xmlns:a="http://schemas.openxmlformats.org/drawingml/2006/main">
            <a:off x="609600" y="433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B3A"/>
                </a:solidFill>
                <a:latin typeface="Arial"/>
                <a:ea typeface="Arial"/>
                <a:cs typeface="Arial"/>
              </a:defRPr>
            </a:defPPr>
          </a:lstStyle>
          <a:p xmlns:a="http://schemas.openxmlformats.org/drawingml/2006/main">
            <a:pPr>
              <a:defRPr sz="2400" b="0">
                <a:solidFill>
                  <a:srgbClr val="172B3A"/>
                </a:solidFill>
                <a:latin typeface="Arial"/>
                <a:ea typeface="Arial"/>
                <a:cs typeface="Arial"/>
              </a:defRPr>
            </a:pPr>
            <a:r>
              <a:rPr sz="2400" b="0">
                <a:solidFill>
                  <a:srgbClr val="172B3A"/>
                </a:solidFill>
                <a:latin typeface="Arial"/>
                <a:ea typeface="Arial"/>
                <a:cs typeface="Arial"/>
              </a:rPr>
              <a:t>Codex hỗ trợ code, kiểm chứng và bản thảo phần Huy</a:t>
            </a:r>
          </a:p>
        </p:txBody>
      </p:sp>
    </p:spTree>
    <p:extLst>
      <p:ext uri="{BB962C8B-B14F-4D97-AF65-F5344CB8AC3E}">
        <p14:creationId xmlns:p14="http://schemas.microsoft.com/office/powerpoint/2010/main" val="196762403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1">
            <a:extLst xmlns:a="http://schemas.openxmlformats.org/drawingml/2006/main">
              <a:ext uri="{FF2B5EF4-FFF2-40B4-BE49-F238E27FC236}">
                <a16:creationId xmlns:a16="http://schemas.microsoft.com/office/drawing/2014/main" id="{34E4E941-2FDA-4631-AA0A-35D9507C0C80}"/>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54A"/>
                </a:solidFill>
                <a:latin typeface="Arial"/>
                <a:ea typeface="Arial"/>
                <a:cs typeface="Arial"/>
              </a:defRPr>
            </a:defPPr>
          </a:lstStyle>
          <a:p xmlns:a="http://schemas.openxmlformats.org/drawingml/2006/main">
            <a:pPr>
              <a:defRPr sz="3150" b="1">
                <a:solidFill>
                  <a:srgbClr val="17354A"/>
                </a:solidFill>
                <a:latin typeface="Arial"/>
                <a:ea typeface="Arial"/>
                <a:cs typeface="Arial"/>
              </a:defRPr>
            </a:pPr>
            <a:r>
              <a:rPr sz="3150" b="1">
                <a:solidFill>
                  <a:srgbClr val="17354A"/>
                </a:solidFill>
                <a:latin typeface="Arial"/>
                <a:ea typeface="Arial"/>
                <a:cs typeface="Arial"/>
              </a:rPr>
              <a:t>Bộ dữ liệu và giới hạn metadata</a:t>
            </a:r>
          </a:p>
        </p:txBody>
      </p:sp>
      <p:sp>
        <p:nvSpPr>
          <p:cNvPr id="2" name="text-2">
            <a:extLst xmlns:a="http://schemas.openxmlformats.org/drawingml/2006/main">
              <a:ext uri="{FF2B5EF4-FFF2-40B4-BE49-F238E27FC236}">
                <a16:creationId xmlns:a16="http://schemas.microsoft.com/office/drawing/2014/main" id="{24257A89-EA3F-43CC-9CD3-D74ADF5B5E95}"/>
              </a:ext>
            </a:extLst>
          </p:cNvPr>
          <p:cNvSpPr>
            <a:spLocks xmlns:a="http://schemas.openxmlformats.org/drawingml/2006/main" noGrp="1"/>
          </p:cNvSpPr>
          <p:nvPr/>
        </p:nvSpPr>
        <p:spPr>
          <a:xfrm xmlns:a="http://schemas.openxmlformats.org/drawingml/2006/main">
            <a:off x="11182350" y="64293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65B69"/>
                </a:solidFill>
                <a:latin typeface="Arial"/>
                <a:ea typeface="Arial"/>
                <a:cs typeface="Arial"/>
              </a:defRPr>
            </a:defPPr>
          </a:lstStyle>
          <a:p xmlns:a="http://schemas.openxmlformats.org/drawingml/2006/main">
            <a:pPr>
              <a:defRPr sz="1350" b="0">
                <a:solidFill>
                  <a:srgbClr val="465B69"/>
                </a:solidFill>
                <a:latin typeface="Arial"/>
                <a:ea typeface="Arial"/>
                <a:cs typeface="Arial"/>
              </a:defRPr>
            </a:pPr>
            <a:r>
              <a:rPr sz="1350" b="0">
                <a:solidFill>
                  <a:srgbClr val="465B69"/>
                </a:solidFill>
                <a:latin typeface="Arial"/>
                <a:ea typeface="Arial"/>
                <a:cs typeface="Arial"/>
              </a:rPr>
              <a:t>4</a:t>
            </a:r>
          </a:p>
        </p:txBody>
      </p:sp>
      <p:graphicFrame>
        <p:nvGraphicFramePr>
          <p:cNvPr id="3" name="">
            <a:extLst xmlns:a="http://schemas.openxmlformats.org/drawingml/2006/main">
              <a:ext uri="{FF2B5EF4-FFF2-40B4-BE49-F238E27FC236}">
                <a16:creationId xmlns:a16="http://schemas.microsoft.com/office/drawing/2014/main" id="{72AC67B5-CDC3-48ED-B1ED-677BF2A6FA96}"/>
              </a:ext>
            </a:extLst>
          </p:cNvPr>
          <p:cNvGraphicFramePr/>
          <p:nvPr/>
        </p:nvGraphicFramePr>
        <p:xfrm>
          <a:off xmlns:a="http://schemas.openxmlformats.org/drawingml/2006/main" x="609600" y="1476375"/>
          <a:ext xmlns:a="http://schemas.openxmlformats.org/drawingml/2006/main" cx="10972800" cy="3238500"/>
        </p:xfrm>
        <a:graphic xmlns:a="http://schemas.openxmlformats.org/drawingml/2006/main">
          <a:graphicData uri="http://schemas.openxmlformats.org/drawingml/2006/table">
            <a:tbl>
              <a:tblPr/>
              <a:tblGrid>
                <a:gridCol w="3238500"/>
                <a:gridCol w="7734300"/>
              </a:tblGrid>
              <a:tr h="647700">
                <a:tc>
                  <a:txBody>
                    <a:bodyPr/>
                    <a:lstStyle/>
                    <a:p>
                      <a:r>
                        <a:rPr sz="2100" b="1">
                          <a:solidFill>
                            <a:srgbClr val="FFFFFF"/>
                          </a:solidFill>
                          <a:latin typeface="Arial"/>
                          <a:ea typeface="Arial"/>
                          <a:cs typeface="Arial"/>
                        </a:rPr>
                        <a:t>Thuộc tính</a:t>
                      </a:r>
                    </a:p>
                  </a:txBody>
                  <a:tcPr marL="91440" marR="91440" marT="45720" marB="45720">
                    <a:solidFill>
                      <a:srgbClr val="17354A"/>
                    </a:solidFill>
                  </a:tcPr>
                </a:tc>
                <a:tc>
                  <a:txBody>
                    <a:bodyPr/>
                    <a:lstStyle/>
                    <a:p>
                      <a:r>
                        <a:rPr sz="2100" b="1">
                          <a:solidFill>
                            <a:srgbClr val="FFFFFF"/>
                          </a:solidFill>
                          <a:latin typeface="Arial"/>
                          <a:ea typeface="Arial"/>
                          <a:cs typeface="Arial"/>
                        </a:rPr>
                        <a:t>Snapshot kiểm tra</a:t>
                      </a:r>
                    </a:p>
                  </a:txBody>
                  <a:tcPr marL="91440" marR="91440" marT="45720" marB="45720">
                    <a:solidFill>
                      <a:srgbClr val="17354A"/>
                    </a:solidFill>
                  </a:tcPr>
                </a:tc>
              </a:tr>
              <a:tr h="647700">
                <a:tc>
                  <a:txBody>
                    <a:bodyPr/>
                    <a:lstStyle/>
                    <a:p>
                      <a:r>
                        <a:rPr sz="2100" b="0">
                          <a:solidFill>
                            <a:srgbClr val="172B3A"/>
                          </a:solidFill>
                          <a:latin typeface="Arial"/>
                          <a:ea typeface="Arial"/>
                          <a:cs typeface="Arial"/>
                        </a:rPr>
                        <a:t>Quy mô</a:t>
                      </a:r>
                    </a:p>
                  </a:txBody>
                  <a:tcPr marL="91440" marR="91440" marT="45720" marB="45720">
                    <a:solidFill>
                      <a:srgbClr val="F1F6F8"/>
                    </a:solidFill>
                  </a:tcPr>
                </a:tc>
                <a:tc>
                  <a:txBody>
                    <a:bodyPr/>
                    <a:lstStyle/>
                    <a:p>
                      <a:r>
                        <a:rPr sz="2100" b="0">
                          <a:solidFill>
                            <a:srgbClr val="172B3A"/>
                          </a:solidFill>
                          <a:latin typeface="Arial"/>
                          <a:ea typeface="Arial"/>
                          <a:cs typeface="Arial"/>
                        </a:rPr>
                        <a:t>51.707 dòng, 20 CSV, 10 thành phố</a:t>
                      </a:r>
                    </a:p>
                  </a:txBody>
                  <a:tcPr marL="91440" marR="91440" marT="45720" marB="45720">
                    <a:solidFill>
                      <a:srgbClr val="F1F6F8"/>
                    </a:solidFill>
                  </a:tcPr>
                </a:tc>
              </a:tr>
              <a:tr h="647700">
                <a:tc>
                  <a:txBody>
                    <a:bodyPr/>
                    <a:lstStyle/>
                    <a:p>
                      <a:r>
                        <a:rPr sz="2100" b="0">
                          <a:solidFill>
                            <a:srgbClr val="172B3A"/>
                          </a:solidFill>
                          <a:latin typeface="Arial"/>
                          <a:ea typeface="Arial"/>
                          <a:cs typeface="Arial"/>
                        </a:rPr>
                        <a:t>Cột dữ liệu</a:t>
                      </a:r>
                    </a:p>
                  </a:txBody>
                  <a:tcPr marL="91440" marR="91440" marT="45720" marB="45720">
                    <a:solidFill>
                      <a:srgbClr val="FFFFFF"/>
                    </a:solidFill>
                  </a:tcPr>
                </a:tc>
                <a:tc>
                  <a:txBody>
                    <a:bodyPr/>
                    <a:lstStyle/>
                    <a:p>
                      <a:r>
                        <a:rPr sz="2100" b="0">
                          <a:solidFill>
                            <a:srgbClr val="172B3A"/>
                          </a:solidFill>
                          <a:latin typeface="Arial"/>
                          <a:ea typeface="Arial"/>
                          <a:cs typeface="Arial"/>
                        </a:rPr>
                        <a:t>20 cột gốc, 24 cột sau thêm context/truy vết</a:t>
                      </a:r>
                    </a:p>
                  </a:txBody>
                  <a:tcPr marL="91440" marR="91440" marT="45720" marB="45720">
                    <a:solidFill>
                      <a:srgbClr val="FFFFFF"/>
                    </a:solidFill>
                  </a:tcPr>
                </a:tc>
              </a:tr>
              <a:tr h="647700">
                <a:tc>
                  <a:txBody>
                    <a:bodyPr/>
                    <a:lstStyle/>
                    <a:p>
                      <a:r>
                        <a:rPr sz="2100" b="0">
                          <a:solidFill>
                            <a:srgbClr val="172B3A"/>
                          </a:solidFill>
                          <a:latin typeface="Arial"/>
                          <a:ea typeface="Arial"/>
                          <a:cs typeface="Arial"/>
                        </a:rPr>
                        <a:t>Khuyết / không hữu hạn</a:t>
                      </a:r>
                    </a:p>
                  </a:txBody>
                  <a:tcPr marL="91440" marR="91440" marT="45720" marB="45720">
                    <a:solidFill>
                      <a:srgbClr val="F1F6F8"/>
                    </a:solidFill>
                  </a:tcPr>
                </a:tc>
                <a:tc>
                  <a:txBody>
                    <a:bodyPr/>
                    <a:lstStyle/>
                    <a:p>
                      <a:r>
                        <a:rPr sz="2100" b="0">
                          <a:solidFill>
                            <a:srgbClr val="172B3A"/>
                          </a:solidFill>
                          <a:latin typeface="Arial"/>
                          <a:ea typeface="Arial"/>
                          <a:cs typeface="Arial"/>
                        </a:rPr>
                        <a:t>Không có trong snapshot</a:t>
                      </a:r>
                    </a:p>
                  </a:txBody>
                  <a:tcPr marL="91440" marR="91440" marT="45720" marB="45720">
                    <a:solidFill>
                      <a:srgbClr val="F1F6F8"/>
                    </a:solidFill>
                  </a:tcPr>
                </a:tc>
              </a:tr>
              <a:tr h="647700">
                <a:tc>
                  <a:txBody>
                    <a:bodyPr/>
                    <a:lstStyle/>
                    <a:p>
                      <a:r>
                        <a:rPr sz="2100" b="0">
                          <a:solidFill>
                            <a:srgbClr val="172B3A"/>
                          </a:solidFill>
                          <a:latin typeface="Arial"/>
                          <a:ea typeface="Arial"/>
                          <a:cs typeface="Arial"/>
                        </a:rPr>
                        <a:t>Target</a:t>
                      </a:r>
                    </a:p>
                  </a:txBody>
                  <a:tcPr marL="91440" marR="91440" marT="45720" marB="45720">
                    <a:solidFill>
                      <a:srgbClr val="FFFFFF"/>
                    </a:solidFill>
                  </a:tcPr>
                </a:tc>
                <a:tc>
                  <a:txBody>
                    <a:bodyPr/>
                    <a:lstStyle/>
                    <a:p>
                      <a:r>
                        <a:rPr sz="2100" b="0">
                          <a:solidFill>
                            <a:srgbClr val="172B3A"/>
                          </a:solidFill>
                          <a:latin typeface="Arial"/>
                          <a:ea typeface="Arial"/>
                          <a:cs typeface="Arial"/>
                        </a:rPr>
                        <a:t>realSum nguyên giá; EUR theo README</a:t>
                      </a:r>
                    </a:p>
                  </a:txBody>
                  <a:tcPr marL="91440" marR="91440" marT="45720" marB="45720">
                    <a:solidFill>
                      <a:srgbClr val="FFFFFF"/>
                    </a:solidFill>
                  </a:tcPr>
                </a:tc>
              </a:tr>
            </a:tbl>
          </a:graphicData>
        </a:graphic>
      </p:graphicFrame>
      <p:sp>
        <p:nvSpPr>
          <p:cNvPr id="4" name="text-3">
            <a:extLst xmlns:a="http://schemas.openxmlformats.org/drawingml/2006/main">
              <a:ext uri="{FF2B5EF4-FFF2-40B4-BE49-F238E27FC236}">
                <a16:creationId xmlns:a16="http://schemas.microsoft.com/office/drawing/2014/main" id="{F46B83EF-F781-4AF7-AE57-467F2C893107}"/>
              </a:ext>
            </a:extLst>
          </p:cNvPr>
          <p:cNvSpPr>
            <a:spLocks xmlns:a="http://schemas.openxmlformats.org/drawingml/2006/main" noGrp="1"/>
          </p:cNvSpPr>
          <p:nvPr/>
        </p:nvSpPr>
        <p:spPr>
          <a:xfrm xmlns:a="http://schemas.openxmlformats.org/drawingml/2006/main">
            <a:off x="609600" y="51435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465B69"/>
                </a:solidFill>
                <a:latin typeface="Arial"/>
                <a:ea typeface="Arial"/>
                <a:cs typeface="Arial"/>
              </a:defRPr>
            </a:defPPr>
          </a:lstStyle>
          <a:p xmlns:a="http://schemas.openxmlformats.org/drawingml/2006/main">
            <a:pPr>
              <a:defRPr sz="2100" b="0">
                <a:solidFill>
                  <a:srgbClr val="465B69"/>
                </a:solidFill>
                <a:latin typeface="Arial"/>
                <a:ea typeface="Arial"/>
                <a:cs typeface="Arial"/>
              </a:defRPr>
            </a:pPr>
            <a:r>
              <a:rPr sz="2100" b="0">
                <a:solidFill>
                  <a:srgbClr val="465B69"/>
                </a:solidFill>
                <a:latin typeface="Arial"/>
                <a:ea typeface="Arial"/>
                <a:cs typeface="Arial"/>
              </a:rPr>
              <a:t>Chưa xác minh kỳ giá, ngày thu thập và listing ID</a:t>
            </a:r>
          </a:p>
          <a:p xmlns:a="http://schemas.openxmlformats.org/drawingml/2006/main">
            <a:pPr>
              <a:defRPr sz="2100" b="0">
                <a:solidFill>
                  <a:srgbClr val="465B69"/>
                </a:solidFill>
                <a:latin typeface="Arial"/>
                <a:ea typeface="Arial"/>
                <a:cs typeface="Arial"/>
              </a:defRPr>
            </a:pPr>
            <a:r>
              <a:rPr sz="2100" b="0">
                <a:solidFill>
                  <a:srgbClr val="465B69"/>
                </a:solidFill>
                <a:latin typeface="Arial"/>
                <a:ea typeface="Arial"/>
                <a:cs typeface="Arial"/>
              </a:rPr>
              <a:t>Không quy đổi thành giá mỗi đêm</a:t>
            </a:r>
          </a:p>
        </p:txBody>
      </p:sp>
    </p:spTree>
    <p:extLst>
      <p:ext uri="{BB962C8B-B14F-4D97-AF65-F5344CB8AC3E}">
        <p14:creationId xmlns:p14="http://schemas.microsoft.com/office/powerpoint/2010/main" val="206570477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1">
            <a:extLst xmlns:a="http://schemas.openxmlformats.org/drawingml/2006/main">
              <a:ext uri="{FF2B5EF4-FFF2-40B4-BE49-F238E27FC236}">
                <a16:creationId xmlns:a16="http://schemas.microsoft.com/office/drawing/2014/main" id="{A6DDF537-C32D-4B3D-B8DD-748884C453B9}"/>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54A"/>
                </a:solidFill>
                <a:latin typeface="Arial"/>
                <a:ea typeface="Arial"/>
                <a:cs typeface="Arial"/>
              </a:defRPr>
            </a:defPPr>
          </a:lstStyle>
          <a:p xmlns:a="http://schemas.openxmlformats.org/drawingml/2006/main">
            <a:pPr>
              <a:defRPr sz="3150" b="1">
                <a:solidFill>
                  <a:srgbClr val="17354A"/>
                </a:solidFill>
                <a:latin typeface="Arial"/>
                <a:ea typeface="Arial"/>
                <a:cs typeface="Arial"/>
              </a:defRPr>
            </a:pPr>
            <a:r>
              <a:rPr sz="3150" b="1">
                <a:solidFill>
                  <a:srgbClr val="17354A"/>
                </a:solidFill>
                <a:latin typeface="Arial"/>
                <a:ea typeface="Arial"/>
                <a:cs typeface="Arial"/>
              </a:rPr>
              <a:t>Giao thức thực nghiệm chung</a:t>
            </a:r>
          </a:p>
        </p:txBody>
      </p:sp>
      <p:sp>
        <p:nvSpPr>
          <p:cNvPr id="2" name="text-2">
            <a:extLst xmlns:a="http://schemas.openxmlformats.org/drawingml/2006/main">
              <a:ext uri="{FF2B5EF4-FFF2-40B4-BE49-F238E27FC236}">
                <a16:creationId xmlns:a16="http://schemas.microsoft.com/office/drawing/2014/main" id="{F3910E71-3252-4181-9A6A-DE056FD58ECB}"/>
              </a:ext>
            </a:extLst>
          </p:cNvPr>
          <p:cNvSpPr>
            <a:spLocks xmlns:a="http://schemas.openxmlformats.org/drawingml/2006/main" noGrp="1"/>
          </p:cNvSpPr>
          <p:nvPr/>
        </p:nvSpPr>
        <p:spPr>
          <a:xfrm xmlns:a="http://schemas.openxmlformats.org/drawingml/2006/main">
            <a:off x="11182350" y="64293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65B69"/>
                </a:solidFill>
                <a:latin typeface="Arial"/>
                <a:ea typeface="Arial"/>
                <a:cs typeface="Arial"/>
              </a:defRPr>
            </a:defPPr>
          </a:lstStyle>
          <a:p xmlns:a="http://schemas.openxmlformats.org/drawingml/2006/main">
            <a:pPr>
              <a:defRPr sz="1350" b="0">
                <a:solidFill>
                  <a:srgbClr val="465B69"/>
                </a:solidFill>
                <a:latin typeface="Arial"/>
                <a:ea typeface="Arial"/>
                <a:cs typeface="Arial"/>
              </a:defRPr>
            </a:pPr>
            <a:r>
              <a:rPr sz="1350" b="0">
                <a:solidFill>
                  <a:srgbClr val="465B69"/>
                </a:solidFill>
                <a:latin typeface="Arial"/>
                <a:ea typeface="Arial"/>
                <a:cs typeface="Arial"/>
              </a:rPr>
              <a:t>5</a:t>
            </a:r>
          </a:p>
        </p:txBody>
      </p:sp>
      <p:graphicFrame>
        <p:nvGraphicFramePr>
          <p:cNvPr id="3" name="">
            <a:extLst xmlns:a="http://schemas.openxmlformats.org/drawingml/2006/main">
              <a:ext uri="{FF2B5EF4-FFF2-40B4-BE49-F238E27FC236}">
                <a16:creationId xmlns:a16="http://schemas.microsoft.com/office/drawing/2014/main" id="{557A73A4-12F6-4DF3-AEF0-ACA1770E0E3F}"/>
              </a:ext>
            </a:extLst>
          </p:cNvPr>
          <p:cNvGraphicFramePr/>
          <p:nvPr/>
        </p:nvGraphicFramePr>
        <p:xfrm>
          <a:off xmlns:a="http://schemas.openxmlformats.org/drawingml/2006/main" x="609600" y="1476375"/>
          <a:ext xmlns:a="http://schemas.openxmlformats.org/drawingml/2006/main" cx="10972800" cy="3714750"/>
        </p:xfrm>
        <a:graphic xmlns:a="http://schemas.openxmlformats.org/drawingml/2006/main">
          <a:graphicData uri="http://schemas.openxmlformats.org/drawingml/2006/table">
            <a:tbl>
              <a:tblPr/>
              <a:tblGrid>
                <a:gridCol w="3143250"/>
                <a:gridCol w="7829550"/>
              </a:tblGrid>
              <a:tr h="742950">
                <a:tc>
                  <a:txBody>
                    <a:bodyPr/>
                    <a:lstStyle/>
                    <a:p>
                      <a:r>
                        <a:rPr sz="2100" b="1">
                          <a:solidFill>
                            <a:srgbClr val="FFFFFF"/>
                          </a:solidFill>
                          <a:latin typeface="Arial"/>
                          <a:ea typeface="Arial"/>
                          <a:cs typeface="Arial"/>
                        </a:rPr>
                        <a:t>Bước</a:t>
                      </a:r>
                    </a:p>
                  </a:txBody>
                  <a:tcPr marL="91440" marR="91440" marT="45720" marB="45720">
                    <a:solidFill>
                      <a:srgbClr val="17354A"/>
                    </a:solidFill>
                  </a:tcPr>
                </a:tc>
                <a:tc>
                  <a:txBody>
                    <a:bodyPr/>
                    <a:lstStyle/>
                    <a:p>
                      <a:r>
                        <a:rPr sz="2100" b="1">
                          <a:solidFill>
                            <a:srgbClr val="FFFFFF"/>
                          </a:solidFill>
                          <a:latin typeface="Arial"/>
                          <a:ea typeface="Arial"/>
                          <a:cs typeface="Arial"/>
                        </a:rPr>
                        <a:t>Thực hiện</a:t>
                      </a:r>
                    </a:p>
                  </a:txBody>
                  <a:tcPr marL="91440" marR="91440" marT="45720" marB="45720">
                    <a:solidFill>
                      <a:srgbClr val="17354A"/>
                    </a:solidFill>
                  </a:tcPr>
                </a:tc>
              </a:tr>
              <a:tr h="742950">
                <a:tc>
                  <a:txBody>
                    <a:bodyPr/>
                    <a:lstStyle/>
                    <a:p>
                      <a:r>
                        <a:rPr sz="2100" b="0">
                          <a:solidFill>
                            <a:srgbClr val="172B3A"/>
                          </a:solidFill>
                          <a:latin typeface="Arial"/>
                          <a:ea typeface="Arial"/>
                          <a:cs typeface="Arial"/>
                        </a:rPr>
                        <a:t>1. Nạp và kiểm</a:t>
                      </a:r>
                    </a:p>
                  </a:txBody>
                  <a:tcPr marL="91440" marR="91440" marT="45720" marB="45720">
                    <a:solidFill>
                      <a:srgbClr val="F1F6F8"/>
                    </a:solidFill>
                  </a:tcPr>
                </a:tc>
                <a:tc>
                  <a:txBody>
                    <a:bodyPr/>
                    <a:lstStyle/>
                    <a:p>
                      <a:r>
                        <a:rPr sz="2100" b="0">
                          <a:solidFill>
                            <a:srgbClr val="172B3A"/>
                          </a:solidFill>
                          <a:latin typeface="Arial"/>
                          <a:ea typeface="Arial"/>
                          <a:cs typeface="Arial"/>
                        </a:rPr>
                        <a:t>Đủ dữ liệu, khóa truy vết duy nhất, không loại giá cao</a:t>
                      </a:r>
                    </a:p>
                  </a:txBody>
                  <a:tcPr marL="91440" marR="91440" marT="45720" marB="45720">
                    <a:solidFill>
                      <a:srgbClr val="F1F6F8"/>
                    </a:solidFill>
                  </a:tcPr>
                </a:tc>
              </a:tr>
              <a:tr h="742950">
                <a:tc>
                  <a:txBody>
                    <a:bodyPr/>
                    <a:lstStyle/>
                    <a:p>
                      <a:r>
                        <a:rPr sz="2100" b="0">
                          <a:solidFill>
                            <a:srgbClr val="172B3A"/>
                          </a:solidFill>
                          <a:latin typeface="Arial"/>
                          <a:ea typeface="Arial"/>
                          <a:cs typeface="Arial"/>
                        </a:rPr>
                        <a:t>2. Holdout 80/20</a:t>
                      </a:r>
                    </a:p>
                  </a:txBody>
                  <a:tcPr marL="91440" marR="91440" marT="45720" marB="45720">
                    <a:solidFill>
                      <a:srgbClr val="FFFFFF"/>
                    </a:solidFill>
                  </a:tcPr>
                </a:tc>
                <a:tc>
                  <a:txBody>
                    <a:bodyPr/>
                    <a:lstStyle/>
                    <a:p>
                      <a:r>
                        <a:rPr sz="2100" b="0">
                          <a:solidFill>
                            <a:srgbClr val="172B3A"/>
                          </a:solidFill>
                          <a:latin typeface="Arial"/>
                          <a:ea typeface="Arial"/>
                          <a:cs typeface="Arial"/>
                        </a:rPr>
                        <a:t>41.365 train / 10.342 test; seed 0</a:t>
                      </a:r>
                    </a:p>
                  </a:txBody>
                  <a:tcPr marL="91440" marR="91440" marT="45720" marB="45720">
                    <a:solidFill>
                      <a:srgbClr val="FFFFFF"/>
                    </a:solidFill>
                  </a:tcPr>
                </a:tc>
              </a:tr>
              <a:tr h="742950">
                <a:tc>
                  <a:txBody>
                    <a:bodyPr/>
                    <a:lstStyle/>
                    <a:p>
                      <a:r>
                        <a:rPr sz="2100" b="0">
                          <a:solidFill>
                            <a:srgbClr val="172B3A"/>
                          </a:solidFill>
                          <a:latin typeface="Arial"/>
                          <a:ea typeface="Arial"/>
                          <a:cs typeface="Arial"/>
                        </a:rPr>
                        <a:t>3. CV và Pipeline</a:t>
                      </a:r>
                    </a:p>
                  </a:txBody>
                  <a:tcPr marL="91440" marR="91440" marT="45720" marB="45720">
                    <a:solidFill>
                      <a:srgbClr val="F1F6F8"/>
                    </a:solidFill>
                  </a:tcPr>
                </a:tc>
                <a:tc>
                  <a:txBody>
                    <a:bodyPr/>
                    <a:lstStyle/>
                    <a:p>
                      <a:r>
                        <a:rPr sz="2100" b="0">
                          <a:solidFill>
                            <a:srgbClr val="172B3A"/>
                          </a:solidFill>
                          <a:latin typeface="Arial"/>
                          <a:ea typeface="Arial"/>
                          <a:cs typeface="Arial"/>
                        </a:rPr>
                        <a:t>5-fold train; fit xử lý trong fold</a:t>
                      </a:r>
                    </a:p>
                  </a:txBody>
                  <a:tcPr marL="91440" marR="91440" marT="45720" marB="45720">
                    <a:solidFill>
                      <a:srgbClr val="F1F6F8"/>
                    </a:solidFill>
                  </a:tcPr>
                </a:tc>
              </a:tr>
              <a:tr h="742950">
                <a:tc>
                  <a:txBody>
                    <a:bodyPr/>
                    <a:lstStyle/>
                    <a:p>
                      <a:r>
                        <a:rPr sz="2100" b="0">
                          <a:solidFill>
                            <a:srgbClr val="172B3A"/>
                          </a:solidFill>
                          <a:latin typeface="Arial"/>
                          <a:ea typeface="Arial"/>
                          <a:cs typeface="Arial"/>
                        </a:rPr>
                        <a:t>4. Chọn và đánh giá</a:t>
                      </a:r>
                    </a:p>
                  </a:txBody>
                  <a:tcPr marL="91440" marR="91440" marT="45720" marB="45720">
                    <a:solidFill>
                      <a:srgbClr val="FFFFFF"/>
                    </a:solidFill>
                  </a:tcPr>
                </a:tc>
                <a:tc>
                  <a:txBody>
                    <a:bodyPr/>
                    <a:lstStyle/>
                    <a:p>
                      <a:r>
                        <a:rPr sz="2100" b="0">
                          <a:solidFill>
                            <a:srgbClr val="172B3A"/>
                          </a:solidFill>
                          <a:latin typeface="Arial"/>
                          <a:ea typeface="Arial"/>
                          <a:cs typeface="Arial"/>
                        </a:rPr>
                        <a:t>Chọn MSE CV thấp nhất rồi đánh giá test</a:t>
                      </a:r>
                    </a:p>
                  </a:txBody>
                  <a:tcPr marL="91440" marR="91440" marT="45720" marB="45720">
                    <a:solidFill>
                      <a:srgbClr val="FFFFFF"/>
                    </a:solidFill>
                  </a:tcPr>
                </a:tc>
              </a:tr>
            </a:tbl>
          </a:graphicData>
        </a:graphic>
      </p:graphicFrame>
      <p:sp>
        <p:nvSpPr>
          <p:cNvPr id="4" name="text-3">
            <a:extLst xmlns:a="http://schemas.openxmlformats.org/drawingml/2006/main">
              <a:ext uri="{FF2B5EF4-FFF2-40B4-BE49-F238E27FC236}">
                <a16:creationId xmlns:a16="http://schemas.microsoft.com/office/drawing/2014/main" id="{DB099A09-62A6-4FEA-863D-494A0B976C7D}"/>
              </a:ext>
            </a:extLst>
          </p:cNvPr>
          <p:cNvSpPr>
            <a:spLocks xmlns:a="http://schemas.openxmlformats.org/drawingml/2006/main" noGrp="1"/>
          </p:cNvSpPr>
          <p:nvPr/>
        </p:nvSpPr>
        <p:spPr>
          <a:xfrm xmlns:a="http://schemas.openxmlformats.org/drawingml/2006/main">
            <a:off x="609600" y="560070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7A93"/>
                </a:solidFill>
                <a:latin typeface="Arial"/>
                <a:ea typeface="Arial"/>
                <a:cs typeface="Arial"/>
              </a:defRPr>
            </a:defPPr>
          </a:lstStyle>
          <a:p xmlns:a="http://schemas.openxmlformats.org/drawingml/2006/main">
            <a:pPr>
              <a:defRPr sz="2100" b="0">
                <a:solidFill>
                  <a:srgbClr val="147A93"/>
                </a:solidFill>
                <a:latin typeface="Arial"/>
                <a:ea typeface="Arial"/>
                <a:cs typeface="Arial"/>
              </a:defRPr>
            </a:pPr>
            <a:r>
              <a:rPr sz="2100" b="0">
                <a:solidFill>
                  <a:srgbClr val="147A93"/>
                </a:solidFill>
                <a:latin typeface="Arial"/>
                <a:ea typeface="Arial"/>
                <a:cs typeface="Arial"/>
              </a:rPr>
              <a:t>Không đổi biến, bậc, alpha hay split theo kết quả test</a:t>
            </a:r>
          </a:p>
        </p:txBody>
      </p:sp>
    </p:spTree>
    <p:extLst>
      <p:ext uri="{BB962C8B-B14F-4D97-AF65-F5344CB8AC3E}">
        <p14:creationId xmlns:p14="http://schemas.microsoft.com/office/powerpoint/2010/main" val="146406136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1">
            <a:extLst xmlns:a="http://schemas.openxmlformats.org/drawingml/2006/main">
              <a:ext uri="{FF2B5EF4-FFF2-40B4-BE49-F238E27FC236}">
                <a16:creationId xmlns:a16="http://schemas.microsoft.com/office/drawing/2014/main" id="{E4E08374-B749-4FF2-8016-D98588ACCE2A}"/>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54A"/>
                </a:solidFill>
                <a:latin typeface="Arial"/>
                <a:ea typeface="Arial"/>
                <a:cs typeface="Arial"/>
              </a:defRPr>
            </a:defPPr>
          </a:lstStyle>
          <a:p xmlns:a="http://schemas.openxmlformats.org/drawingml/2006/main">
            <a:pPr>
              <a:defRPr sz="3150" b="1">
                <a:solidFill>
                  <a:srgbClr val="17354A"/>
                </a:solidFill>
                <a:latin typeface="Arial"/>
                <a:ea typeface="Arial"/>
                <a:cs typeface="Arial"/>
              </a:defRPr>
            </a:pPr>
            <a:r>
              <a:rPr sz="3150" b="1">
                <a:solidFill>
                  <a:srgbClr val="17354A"/>
                </a:solidFill>
                <a:latin typeface="Arial"/>
                <a:ea typeface="Arial"/>
                <a:cs typeface="Arial"/>
              </a:rPr>
              <a:t>Giá lệch phải và cơ cấu loại phòng</a:t>
            </a:r>
          </a:p>
        </p:txBody>
      </p:sp>
      <p:sp>
        <p:nvSpPr>
          <p:cNvPr id="2" name="text-2">
            <a:extLst xmlns:a="http://schemas.openxmlformats.org/drawingml/2006/main">
              <a:ext uri="{FF2B5EF4-FFF2-40B4-BE49-F238E27FC236}">
                <a16:creationId xmlns:a16="http://schemas.microsoft.com/office/drawing/2014/main" id="{25EDD8FF-8180-4E48-941F-385B6750A18D}"/>
              </a:ext>
            </a:extLst>
          </p:cNvPr>
          <p:cNvSpPr>
            <a:spLocks xmlns:a="http://schemas.openxmlformats.org/drawingml/2006/main" noGrp="1"/>
          </p:cNvSpPr>
          <p:nvPr/>
        </p:nvSpPr>
        <p:spPr>
          <a:xfrm xmlns:a="http://schemas.openxmlformats.org/drawingml/2006/main">
            <a:off x="11182350" y="64293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65B69"/>
                </a:solidFill>
                <a:latin typeface="Arial"/>
                <a:ea typeface="Arial"/>
                <a:cs typeface="Arial"/>
              </a:defRPr>
            </a:defPPr>
          </a:lstStyle>
          <a:p xmlns:a="http://schemas.openxmlformats.org/drawingml/2006/main">
            <a:pPr>
              <a:defRPr sz="1350" b="0">
                <a:solidFill>
                  <a:srgbClr val="465B69"/>
                </a:solidFill>
                <a:latin typeface="Arial"/>
                <a:ea typeface="Arial"/>
                <a:cs typeface="Arial"/>
              </a:defRPr>
            </a:pPr>
            <a:r>
              <a:rPr sz="1350" b="0">
                <a:solidFill>
                  <a:srgbClr val="465B69"/>
                </a:solidFill>
                <a:latin typeface="Arial"/>
                <a:ea typeface="Arial"/>
                <a:cs typeface="Arial"/>
              </a:rPr>
              <a:t>6</a:t>
            </a:r>
          </a:p>
        </p:txBody>
      </p:sp>
      <p:pic>
        <p:nvPicPr>
          <p:cNvPr id="3" name="">
            <a:extLst xmlns:a="http://schemas.openxmlformats.org/drawingml/2006/main">
              <a:ext uri="{FF2B5EF4-FFF2-40B4-BE49-F238E27FC236}">
                <a16:creationId xmlns:a16="http://schemas.microsoft.com/office/drawing/2014/main" id="{C8886AF6-F4E0-488A-AAA0-198B2F14E22B}"/>
              </a:ext>
            </a:extLst>
          </p:cNvPr>
          <p:cNvPicPr>
            <a:picLocks xmlns:a="http://schemas.openxmlformats.org/drawingml/2006/main" noChangeAspect="1"/>
          </p:cNvPicPr>
          <p:nvPr/>
        </p:nvPicPr>
        <p:blipFill>
          <a:blip xmlns:r="http://schemas.openxmlformats.org/officeDocument/2006/relationships" xmlns:a="http://schemas.openxmlformats.org/drawingml/2006/main" r:embed="Ra4adca2b47224aff"/>
          <a:stretch xmlns:a="http://schemas.openxmlformats.org/drawingml/2006/main"/>
        </p:blipFill>
        <p:spPr>
          <a:xfrm xmlns:a="http://schemas.openxmlformats.org/drawingml/2006/main">
            <a:off x="2712842" y="1381125"/>
            <a:ext cx="6766316" cy="3429000"/>
          </a:xfrm>
          <a:prstGeom xmlns:a="http://schemas.openxmlformats.org/drawingml/2006/main" prst="rect">
            <a:avLst/>
          </a:prstGeom>
        </p:spPr>
      </p:pic>
      <p:sp>
        <p:nvSpPr>
          <p:cNvPr id="4" name="text-3">
            <a:extLst xmlns:a="http://schemas.openxmlformats.org/drawingml/2006/main">
              <a:ext uri="{FF2B5EF4-FFF2-40B4-BE49-F238E27FC236}">
                <a16:creationId xmlns:a16="http://schemas.microsoft.com/office/drawing/2014/main" id="{3E7C27D4-B40F-4A24-A4F8-1E55A741B7B8}"/>
              </a:ext>
            </a:extLst>
          </p:cNvPr>
          <p:cNvSpPr>
            <a:spLocks xmlns:a="http://schemas.openxmlformats.org/drawingml/2006/main" noGrp="1"/>
          </p:cNvSpPr>
          <p:nvPr/>
        </p:nvSpPr>
        <p:spPr>
          <a:xfrm xmlns:a="http://schemas.openxmlformats.org/drawingml/2006/main">
            <a:off x="609600" y="51720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2B3A"/>
                </a:solidFill>
                <a:latin typeface="Arial"/>
                <a:ea typeface="Arial"/>
                <a:cs typeface="Arial"/>
              </a:defRPr>
            </a:defPPr>
          </a:lstStyle>
          <a:p xmlns:a="http://schemas.openxmlformats.org/drawingml/2006/main">
            <a:pPr>
              <a:defRPr sz="2250" b="0">
                <a:solidFill>
                  <a:srgbClr val="172B3A"/>
                </a:solidFill>
                <a:latin typeface="Arial"/>
                <a:ea typeface="Arial"/>
                <a:cs typeface="Arial"/>
              </a:defRPr>
            </a:pPr>
            <a:r>
              <a:rPr sz="2250" b="0">
                <a:solidFill>
                  <a:srgbClr val="172B3A"/>
                </a:solidFill>
                <a:latin typeface="Arial"/>
                <a:ea typeface="Arial"/>
                <a:cs typeface="Arial"/>
              </a:rPr>
              <a:t>Mean 279,88   Median 211,34   Skewness 21,42</a:t>
            </a:r>
          </a:p>
          <a:p xmlns:a="http://schemas.openxmlformats.org/drawingml/2006/main">
            <a:pPr>
              <a:defRPr sz="2250" b="0">
                <a:solidFill>
                  <a:srgbClr val="172B3A"/>
                </a:solidFill>
                <a:latin typeface="Arial"/>
                <a:ea typeface="Arial"/>
                <a:cs typeface="Arial"/>
              </a:defRPr>
            </a:pPr>
            <a:r>
              <a:rPr sz="2250" b="0">
                <a:solidFill>
                  <a:srgbClr val="172B3A"/>
                </a:solidFill>
                <a:latin typeface="Arial"/>
                <a:ea typeface="Arial"/>
                <a:cs typeface="Arial"/>
              </a:rPr>
              <a:t>Shared room: 366 mẫu, chiếm 0,708%</a:t>
            </a:r>
          </a:p>
        </p:txBody>
      </p:sp>
    </p:spTree>
    <p:extLst>
      <p:ext uri="{BB962C8B-B14F-4D97-AF65-F5344CB8AC3E}">
        <p14:creationId xmlns:p14="http://schemas.microsoft.com/office/powerpoint/2010/main" val="83931654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1">
            <a:extLst xmlns:a="http://schemas.openxmlformats.org/drawingml/2006/main">
              <a:ext uri="{FF2B5EF4-FFF2-40B4-BE49-F238E27FC236}">
                <a16:creationId xmlns:a16="http://schemas.microsoft.com/office/drawing/2014/main" id="{314C64CE-721A-4B16-9DBA-FF7492528042}"/>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54A"/>
                </a:solidFill>
                <a:latin typeface="Arial"/>
                <a:ea typeface="Arial"/>
                <a:cs typeface="Arial"/>
              </a:defRPr>
            </a:defPPr>
          </a:lstStyle>
          <a:p xmlns:a="http://schemas.openxmlformats.org/drawingml/2006/main">
            <a:pPr>
              <a:defRPr sz="3150" b="1">
                <a:solidFill>
                  <a:srgbClr val="17354A"/>
                </a:solidFill>
                <a:latin typeface="Arial"/>
                <a:ea typeface="Arial"/>
                <a:cs typeface="Arial"/>
              </a:defRPr>
            </a:pPr>
            <a:r>
              <a:rPr sz="3150" b="1">
                <a:solidFill>
                  <a:srgbClr val="17354A"/>
                </a:solidFill>
                <a:latin typeface="Arial"/>
                <a:ea typeface="Arial"/>
                <a:cs typeface="Arial"/>
              </a:rPr>
              <a:t>Hai nhóm ngày theo thành phố</a:t>
            </a:r>
          </a:p>
        </p:txBody>
      </p:sp>
      <p:sp>
        <p:nvSpPr>
          <p:cNvPr id="2" name="text-2">
            <a:extLst xmlns:a="http://schemas.openxmlformats.org/drawingml/2006/main">
              <a:ext uri="{FF2B5EF4-FFF2-40B4-BE49-F238E27FC236}">
                <a16:creationId xmlns:a16="http://schemas.microsoft.com/office/drawing/2014/main" id="{35B7F1F6-7E43-47FA-ABC7-C68460EFB949}"/>
              </a:ext>
            </a:extLst>
          </p:cNvPr>
          <p:cNvSpPr>
            <a:spLocks xmlns:a="http://schemas.openxmlformats.org/drawingml/2006/main" noGrp="1"/>
          </p:cNvSpPr>
          <p:nvPr/>
        </p:nvSpPr>
        <p:spPr>
          <a:xfrm xmlns:a="http://schemas.openxmlformats.org/drawingml/2006/main">
            <a:off x="11182350" y="64293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65B69"/>
                </a:solidFill>
                <a:latin typeface="Arial"/>
                <a:ea typeface="Arial"/>
                <a:cs typeface="Arial"/>
              </a:defRPr>
            </a:defPPr>
          </a:lstStyle>
          <a:p xmlns:a="http://schemas.openxmlformats.org/drawingml/2006/main">
            <a:pPr>
              <a:defRPr sz="1350" b="0">
                <a:solidFill>
                  <a:srgbClr val="465B69"/>
                </a:solidFill>
                <a:latin typeface="Arial"/>
                <a:ea typeface="Arial"/>
                <a:cs typeface="Arial"/>
              </a:defRPr>
            </a:pPr>
            <a:r>
              <a:rPr sz="1350" b="0">
                <a:solidFill>
                  <a:srgbClr val="465B69"/>
                </a:solidFill>
                <a:latin typeface="Arial"/>
                <a:ea typeface="Arial"/>
                <a:cs typeface="Arial"/>
              </a:rPr>
              <a:t>7</a:t>
            </a:r>
          </a:p>
        </p:txBody>
      </p:sp>
      <p:graphicFrame>
        <p:nvGraphicFramePr>
          <p:cNvPr id="3" name="Chart">
            <a:extLst xmlns:a="http://schemas.openxmlformats.org/drawingml/2006/main">
              <a:ext uri="{FF2B5EF4-FFF2-40B4-BE49-F238E27FC236}">
                <a16:creationId xmlns:a16="http://schemas.microsoft.com/office/drawing/2014/main" id="{DB340BBA-B424-42C0-8864-FD472AB44390}"/>
              </a:ext>
            </a:extLst>
          </p:cNvPr>
          <p:cNvGraphicFramePr/>
          <p:nvPr/>
        </p:nvGraphicFramePr>
        <p:xfrm>
          <a:off xmlns:a="http://schemas.openxmlformats.org/drawingml/2006/main" x="609600" y="1333500"/>
          <a:ext xmlns:a="http://schemas.openxmlformats.org/drawingml/2006/main" cx="10972800" cy="3905250"/>
        </p:xfrm>
        <a:graphic xmlns:a="http://schemas.openxmlformats.org/drawingml/2006/main">
          <a:graphicData uri="http://schemas.openxmlformats.org/drawingml/2006/chart">
            <c:chart xmlns:r="http://schemas.openxmlformats.org/officeDocument/2006/relationships" xmlns:c="http://schemas.openxmlformats.org/drawingml/2006/chart" r:id="R78504bc126e14aee"/>
          </a:graphicData>
        </a:graphic>
      </p:graphicFrame>
      <p:sp>
        <p:nvSpPr>
          <p:cNvPr id="4" name="text-3">
            <a:extLst xmlns:a="http://schemas.openxmlformats.org/drawingml/2006/main">
              <a:ext uri="{FF2B5EF4-FFF2-40B4-BE49-F238E27FC236}">
                <a16:creationId xmlns:a16="http://schemas.microsoft.com/office/drawing/2014/main" id="{F38DE1F2-E8F4-487F-B0FB-7F386AD09F8A}"/>
              </a:ext>
            </a:extLst>
          </p:cNvPr>
          <p:cNvSpPr>
            <a:spLocks xmlns:a="http://schemas.openxmlformats.org/drawingml/2006/main" noGrp="1"/>
          </p:cNvSpPr>
          <p:nvPr/>
        </p:nvSpPr>
        <p:spPr>
          <a:xfrm xmlns:a="http://schemas.openxmlformats.org/drawingml/2006/main">
            <a:off x="609600" y="5391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B3A"/>
                </a:solidFill>
                <a:latin typeface="Arial"/>
                <a:ea typeface="Arial"/>
                <a:cs typeface="Arial"/>
              </a:defRPr>
            </a:defPPr>
          </a:lstStyle>
          <a:p xmlns:a="http://schemas.openxmlformats.org/drawingml/2006/main">
            <a:pPr>
              <a:defRPr sz="2100" b="0">
                <a:solidFill>
                  <a:srgbClr val="172B3A"/>
                </a:solidFill>
                <a:latin typeface="Arial"/>
                <a:ea typeface="Arial"/>
                <a:cs typeface="Arial"/>
              </a:defRPr>
            </a:pPr>
            <a:r>
              <a:rPr sz="2100" b="0">
                <a:solidFill>
                  <a:srgbClr val="172B3A"/>
                </a:solidFill>
                <a:latin typeface="Arial"/>
                <a:ea typeface="Arial"/>
                <a:cs typeface="Arial"/>
              </a:rPr>
              <a:t>Amsterdam: median chênh 61,40, n=1.103 / 977</a:t>
            </a:r>
          </a:p>
          <a:p xmlns:a="http://schemas.openxmlformats.org/drawingml/2006/main">
            <a:pPr>
              <a:defRPr sz="2100" b="0">
                <a:solidFill>
                  <a:srgbClr val="172B3A"/>
                </a:solidFill>
                <a:latin typeface="Arial"/>
                <a:ea typeface="Arial"/>
                <a:cs typeface="Arial"/>
              </a:defRPr>
            </a:pPr>
            <a:r>
              <a:rPr sz="2100" b="0">
                <a:solidFill>
                  <a:srgbClr val="172B3A"/>
                </a:solidFill>
                <a:latin typeface="Arial"/>
                <a:ea typeface="Arial"/>
                <a:cs typeface="Arial"/>
              </a:rPr>
              <a:t>Hai tập quan sát, chưa ghép cùng listing</a:t>
            </a:r>
          </a:p>
        </p:txBody>
      </p:sp>
    </p:spTree>
    <p:extLst>
      <p:ext uri="{BB962C8B-B14F-4D97-AF65-F5344CB8AC3E}">
        <p14:creationId xmlns:p14="http://schemas.microsoft.com/office/powerpoint/2010/main" val="21615201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1">
            <a:extLst xmlns:a="http://schemas.openxmlformats.org/drawingml/2006/main">
              <a:ext uri="{FF2B5EF4-FFF2-40B4-BE49-F238E27FC236}">
                <a16:creationId xmlns:a16="http://schemas.microsoft.com/office/drawing/2014/main" id="{18C4132D-8558-4EB3-A927-47178E2DAD2B}"/>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54A"/>
                </a:solidFill>
                <a:latin typeface="Arial"/>
                <a:ea typeface="Arial"/>
                <a:cs typeface="Arial"/>
              </a:defRPr>
            </a:defPPr>
          </a:lstStyle>
          <a:p xmlns:a="http://schemas.openxmlformats.org/drawingml/2006/main">
            <a:pPr>
              <a:defRPr sz="3150" b="1">
                <a:solidFill>
                  <a:srgbClr val="17354A"/>
                </a:solidFill>
                <a:latin typeface="Arial"/>
                <a:ea typeface="Arial"/>
                <a:cs typeface="Arial"/>
              </a:defRPr>
            </a:pPr>
            <a:r>
              <a:rPr sz="3150" b="1">
                <a:solidFill>
                  <a:srgbClr val="17354A"/>
                </a:solidFill>
                <a:latin typeface="Arial"/>
                <a:ea typeface="Arial"/>
                <a:cs typeface="Arial"/>
              </a:rPr>
              <a:t>Pearson gộp và trong thành phố</a:t>
            </a:r>
          </a:p>
        </p:txBody>
      </p:sp>
      <p:sp>
        <p:nvSpPr>
          <p:cNvPr id="2" name="text-2">
            <a:extLst xmlns:a="http://schemas.openxmlformats.org/drawingml/2006/main">
              <a:ext uri="{FF2B5EF4-FFF2-40B4-BE49-F238E27FC236}">
                <a16:creationId xmlns:a16="http://schemas.microsoft.com/office/drawing/2014/main" id="{34CE0708-D60C-4E16-BA1D-131A159543C4}"/>
              </a:ext>
            </a:extLst>
          </p:cNvPr>
          <p:cNvSpPr>
            <a:spLocks xmlns:a="http://schemas.openxmlformats.org/drawingml/2006/main" noGrp="1"/>
          </p:cNvSpPr>
          <p:nvPr/>
        </p:nvSpPr>
        <p:spPr>
          <a:xfrm xmlns:a="http://schemas.openxmlformats.org/drawingml/2006/main">
            <a:off x="11182350" y="64293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65B69"/>
                </a:solidFill>
                <a:latin typeface="Arial"/>
                <a:ea typeface="Arial"/>
                <a:cs typeface="Arial"/>
              </a:defRPr>
            </a:defPPr>
          </a:lstStyle>
          <a:p xmlns:a="http://schemas.openxmlformats.org/drawingml/2006/main">
            <a:pPr>
              <a:defRPr sz="1350" b="0">
                <a:solidFill>
                  <a:srgbClr val="465B69"/>
                </a:solidFill>
                <a:latin typeface="Arial"/>
                <a:ea typeface="Arial"/>
                <a:cs typeface="Arial"/>
              </a:defRPr>
            </a:pPr>
            <a:r>
              <a:rPr sz="1350" b="0">
                <a:solidFill>
                  <a:srgbClr val="465B69"/>
                </a:solidFill>
                <a:latin typeface="Arial"/>
                <a:ea typeface="Arial"/>
                <a:cs typeface="Arial"/>
              </a:rPr>
              <a:t>8</a:t>
            </a:r>
          </a:p>
        </p:txBody>
      </p:sp>
      <p:graphicFrame>
        <p:nvGraphicFramePr>
          <p:cNvPr id="3" name="">
            <a:extLst xmlns:a="http://schemas.openxmlformats.org/drawingml/2006/main">
              <a:ext uri="{FF2B5EF4-FFF2-40B4-BE49-F238E27FC236}">
                <a16:creationId xmlns:a16="http://schemas.microsoft.com/office/drawing/2014/main" id="{E7E88E7E-611D-48AA-9A9C-8FCC5A696857}"/>
              </a:ext>
            </a:extLst>
          </p:cNvPr>
          <p:cNvGraphicFramePr/>
          <p:nvPr/>
        </p:nvGraphicFramePr>
        <p:xfrm>
          <a:off xmlns:a="http://schemas.openxmlformats.org/drawingml/2006/main" x="609600" y="1476375"/>
          <a:ext xmlns:a="http://schemas.openxmlformats.org/drawingml/2006/main" cx="10972800" cy="3429000"/>
        </p:xfrm>
        <a:graphic xmlns:a="http://schemas.openxmlformats.org/drawingml/2006/main">
          <a:graphicData uri="http://schemas.openxmlformats.org/drawingml/2006/table">
            <a:tbl>
              <a:tblPr/>
              <a:tblGrid>
                <a:gridCol w="7239000"/>
                <a:gridCol w="3733800"/>
              </a:tblGrid>
              <a:tr h="685800">
                <a:tc>
                  <a:txBody>
                    <a:bodyPr/>
                    <a:lstStyle/>
                    <a:p>
                      <a:r>
                        <a:rPr sz="2400" b="1">
                          <a:solidFill>
                            <a:srgbClr val="FFFFFF"/>
                          </a:solidFill>
                          <a:latin typeface="Arial"/>
                          <a:ea typeface="Arial"/>
                          <a:cs typeface="Arial"/>
                        </a:rPr>
                        <a:t>Sức chứa và giá</a:t>
                      </a:r>
                    </a:p>
                  </a:txBody>
                  <a:tcPr marL="91440" marR="91440" marT="45720" marB="45720">
                    <a:solidFill>
                      <a:srgbClr val="17354A"/>
                    </a:solidFill>
                  </a:tcPr>
                </a:tc>
                <a:tc>
                  <a:txBody>
                    <a:bodyPr/>
                    <a:lstStyle/>
                    <a:p>
                      <a:r>
                        <a:rPr sz="2400" b="1">
                          <a:solidFill>
                            <a:srgbClr val="FFFFFF"/>
                          </a:solidFill>
                          <a:latin typeface="Arial"/>
                          <a:ea typeface="Arial"/>
                          <a:cs typeface="Arial"/>
                        </a:rPr>
                        <a:t>r Pearson</a:t>
                      </a:r>
                    </a:p>
                  </a:txBody>
                  <a:tcPr marL="91440" marR="91440" marT="45720" marB="45720">
                    <a:solidFill>
                      <a:srgbClr val="17354A"/>
                    </a:solidFill>
                  </a:tcPr>
                </a:tc>
              </a:tr>
              <a:tr h="685800">
                <a:tc>
                  <a:txBody>
                    <a:bodyPr/>
                    <a:lstStyle/>
                    <a:p>
                      <a:r>
                        <a:rPr sz="2400" b="0">
                          <a:solidFill>
                            <a:srgbClr val="172B3A"/>
                          </a:solidFill>
                          <a:latin typeface="Arial"/>
                          <a:ea typeface="Arial"/>
                          <a:cs typeface="Arial"/>
                        </a:rPr>
                        <a:t>Toàn bộ dữ liệu</a:t>
                      </a:r>
                    </a:p>
                  </a:txBody>
                  <a:tcPr marL="91440" marR="91440" marT="45720" marB="45720">
                    <a:solidFill>
                      <a:srgbClr val="F1F6F8"/>
                    </a:solidFill>
                  </a:tcPr>
                </a:tc>
                <a:tc>
                  <a:txBody>
                    <a:bodyPr/>
                    <a:lstStyle/>
                    <a:p>
                      <a:r>
                        <a:rPr sz="2400" b="0">
                          <a:solidFill>
                            <a:srgbClr val="172B3A"/>
                          </a:solidFill>
                          <a:latin typeface="Arial"/>
                          <a:ea typeface="Arial"/>
                          <a:cs typeface="Arial"/>
                        </a:rPr>
                        <a:t>0,203</a:t>
                      </a:r>
                    </a:p>
                  </a:txBody>
                  <a:tcPr marL="91440" marR="91440" marT="45720" marB="45720">
                    <a:solidFill>
                      <a:srgbClr val="F1F6F8"/>
                    </a:solidFill>
                  </a:tcPr>
                </a:tc>
              </a:tr>
              <a:tr h="685800">
                <a:tc>
                  <a:txBody>
                    <a:bodyPr/>
                    <a:lstStyle/>
                    <a:p>
                      <a:r>
                        <a:rPr sz="2400" b="0">
                          <a:solidFill>
                            <a:srgbClr val="172B3A"/>
                          </a:solidFill>
                          <a:latin typeface="Arial"/>
                          <a:ea typeface="Arial"/>
                          <a:cs typeface="Arial"/>
                        </a:rPr>
                        <a:t>Amsterdam</a:t>
                      </a:r>
                    </a:p>
                  </a:txBody>
                  <a:tcPr marL="91440" marR="91440" marT="45720" marB="45720">
                    <a:solidFill>
                      <a:srgbClr val="FFFFFF"/>
                    </a:solidFill>
                  </a:tcPr>
                </a:tc>
                <a:tc>
                  <a:txBody>
                    <a:bodyPr/>
                    <a:lstStyle/>
                    <a:p>
                      <a:r>
                        <a:rPr sz="2400" b="0">
                          <a:solidFill>
                            <a:srgbClr val="172B3A"/>
                          </a:solidFill>
                          <a:latin typeface="Arial"/>
                          <a:ea typeface="Arial"/>
                          <a:cs typeface="Arial"/>
                        </a:rPr>
                        <a:t>0,528</a:t>
                      </a:r>
                    </a:p>
                  </a:txBody>
                  <a:tcPr marL="91440" marR="91440" marT="45720" marB="45720">
                    <a:solidFill>
                      <a:srgbClr val="FFFFFF"/>
                    </a:solidFill>
                  </a:tcPr>
                </a:tc>
              </a:tr>
              <a:tr h="685800">
                <a:tc>
                  <a:txBody>
                    <a:bodyPr/>
                    <a:lstStyle/>
                    <a:p>
                      <a:r>
                        <a:rPr sz="2400" b="0">
                          <a:solidFill>
                            <a:srgbClr val="172B3A"/>
                          </a:solidFill>
                          <a:latin typeface="Arial"/>
                          <a:ea typeface="Arial"/>
                          <a:cs typeface="Arial"/>
                        </a:rPr>
                        <a:t>Lisbon</a:t>
                      </a:r>
                    </a:p>
                  </a:txBody>
                  <a:tcPr marL="91440" marR="91440" marT="45720" marB="45720">
                    <a:solidFill>
                      <a:srgbClr val="F1F6F8"/>
                    </a:solidFill>
                  </a:tcPr>
                </a:tc>
                <a:tc>
                  <a:txBody>
                    <a:bodyPr/>
                    <a:lstStyle/>
                    <a:p>
                      <a:r>
                        <a:rPr sz="2400" b="0">
                          <a:solidFill>
                            <a:srgbClr val="172B3A"/>
                          </a:solidFill>
                          <a:latin typeface="Arial"/>
                          <a:ea typeface="Arial"/>
                          <a:cs typeface="Arial"/>
                        </a:rPr>
                        <a:t>0,573</a:t>
                      </a:r>
                    </a:p>
                  </a:txBody>
                  <a:tcPr marL="91440" marR="91440" marT="45720" marB="45720">
                    <a:solidFill>
                      <a:srgbClr val="F1F6F8"/>
                    </a:solidFill>
                  </a:tcPr>
                </a:tc>
              </a:tr>
              <a:tr h="685800">
                <a:tc>
                  <a:txBody>
                    <a:bodyPr/>
                    <a:lstStyle/>
                    <a:p>
                      <a:r>
                        <a:rPr sz="2400" b="0">
                          <a:solidFill>
                            <a:srgbClr val="172B3A"/>
                          </a:solidFill>
                          <a:latin typeface="Arial"/>
                          <a:ea typeface="Arial"/>
                          <a:cs typeface="Arial"/>
                        </a:rPr>
                        <a:t>London</a:t>
                      </a:r>
                    </a:p>
                  </a:txBody>
                  <a:tcPr marL="91440" marR="91440" marT="45720" marB="45720">
                    <a:solidFill>
                      <a:srgbClr val="FFFFFF"/>
                    </a:solidFill>
                  </a:tcPr>
                </a:tc>
                <a:tc>
                  <a:txBody>
                    <a:bodyPr/>
                    <a:lstStyle/>
                    <a:p>
                      <a:r>
                        <a:rPr sz="2400" b="0">
                          <a:solidFill>
                            <a:srgbClr val="172B3A"/>
                          </a:solidFill>
                          <a:latin typeface="Arial"/>
                          <a:ea typeface="Arial"/>
                          <a:cs typeface="Arial"/>
                        </a:rPr>
                        <a:t>0,352</a:t>
                      </a:r>
                    </a:p>
                  </a:txBody>
                  <a:tcPr marL="91440" marR="91440" marT="45720" marB="45720">
                    <a:solidFill>
                      <a:srgbClr val="FFFFFF"/>
                    </a:solidFill>
                  </a:tcPr>
                </a:tc>
              </a:tr>
            </a:tbl>
          </a:graphicData>
        </a:graphic>
      </p:graphicFrame>
      <p:sp>
        <p:nvSpPr>
          <p:cNvPr id="4" name="text-3">
            <a:extLst xmlns:a="http://schemas.openxmlformats.org/drawingml/2006/main">
              <a:ext uri="{FF2B5EF4-FFF2-40B4-BE49-F238E27FC236}">
                <a16:creationId xmlns:a16="http://schemas.microsoft.com/office/drawing/2014/main" id="{2F1E99D8-D039-4BD9-9F54-EBE752BFC947}"/>
              </a:ext>
            </a:extLst>
          </p:cNvPr>
          <p:cNvSpPr>
            <a:spLocks xmlns:a="http://schemas.openxmlformats.org/drawingml/2006/main" noGrp="1"/>
          </p:cNvSpPr>
          <p:nvPr/>
        </p:nvSpPr>
        <p:spPr>
          <a:xfrm xmlns:a="http://schemas.openxmlformats.org/drawingml/2006/main">
            <a:off x="609600" y="53340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B3A"/>
                </a:solidFill>
                <a:latin typeface="Arial"/>
                <a:ea typeface="Arial"/>
                <a:cs typeface="Arial"/>
              </a:defRPr>
            </a:defPPr>
          </a:lstStyle>
          <a:p xmlns:a="http://schemas.openxmlformats.org/drawingml/2006/main">
            <a:pPr>
              <a:defRPr sz="2100" b="0">
                <a:solidFill>
                  <a:srgbClr val="172B3A"/>
                </a:solidFill>
                <a:latin typeface="Arial"/>
                <a:ea typeface="Arial"/>
                <a:cs typeface="Arial"/>
              </a:defRPr>
            </a:pPr>
            <a:r>
              <a:rPr sz="2100" b="0">
                <a:solidFill>
                  <a:srgbClr val="172B3A"/>
                </a:solidFill>
                <a:latin typeface="Arial"/>
                <a:ea typeface="Arial"/>
                <a:cs typeface="Arial"/>
              </a:rPr>
              <a:t>r gộp nhỏ không phủ nhận liên hệ trong nhóm</a:t>
            </a:r>
          </a:p>
          <a:p xmlns:a="http://schemas.openxmlformats.org/drawingml/2006/main">
            <a:pPr>
              <a:defRPr sz="2100" b="0">
                <a:solidFill>
                  <a:srgbClr val="172B3A"/>
                </a:solidFill>
                <a:latin typeface="Arial"/>
                <a:ea typeface="Arial"/>
                <a:cs typeface="Arial"/>
              </a:defRPr>
            </a:pPr>
            <a:r>
              <a:rPr sz="2100" b="0">
                <a:solidFill>
                  <a:srgbClr val="172B3A"/>
                </a:solidFill>
                <a:latin typeface="Arial"/>
                <a:ea typeface="Arial"/>
                <a:cs typeface="Arial"/>
              </a:rPr>
              <a:t>Không lọc biến tự động chỉ theo ngưỡng 0,3</a:t>
            </a:r>
          </a:p>
        </p:txBody>
      </p:sp>
    </p:spTree>
    <p:extLst>
      <p:ext uri="{BB962C8B-B14F-4D97-AF65-F5344CB8AC3E}">
        <p14:creationId xmlns:p14="http://schemas.microsoft.com/office/powerpoint/2010/main" val="149026657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1">
            <a:extLst xmlns:a="http://schemas.openxmlformats.org/drawingml/2006/main">
              <a:ext uri="{FF2B5EF4-FFF2-40B4-BE49-F238E27FC236}">
                <a16:creationId xmlns:a16="http://schemas.microsoft.com/office/drawing/2014/main" id="{B3B1C498-CCA5-4758-9FB6-1F44BE8A9ECC}"/>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54A"/>
                </a:solidFill>
                <a:latin typeface="Arial"/>
                <a:ea typeface="Arial"/>
                <a:cs typeface="Arial"/>
              </a:defRPr>
            </a:defPPr>
          </a:lstStyle>
          <a:p xmlns:a="http://schemas.openxmlformats.org/drawingml/2006/main">
            <a:pPr>
              <a:defRPr sz="3150" b="1">
                <a:solidFill>
                  <a:srgbClr val="17354A"/>
                </a:solidFill>
                <a:latin typeface="Arial"/>
                <a:ea typeface="Arial"/>
                <a:cs typeface="Arial"/>
              </a:defRPr>
            </a:pPr>
            <a:r>
              <a:rPr sz="3150" b="1">
                <a:solidFill>
                  <a:srgbClr val="17354A"/>
                </a:solidFill>
                <a:latin typeface="Arial"/>
                <a:ea typeface="Arial"/>
                <a:cs typeface="Arial"/>
              </a:rPr>
              <a:t>ANOVA và giới hạn giả định</a:t>
            </a:r>
          </a:p>
        </p:txBody>
      </p:sp>
      <p:sp>
        <p:nvSpPr>
          <p:cNvPr id="2" name="text-2">
            <a:extLst xmlns:a="http://schemas.openxmlformats.org/drawingml/2006/main">
              <a:ext uri="{FF2B5EF4-FFF2-40B4-BE49-F238E27FC236}">
                <a16:creationId xmlns:a16="http://schemas.microsoft.com/office/drawing/2014/main" id="{E403AC20-66DA-49BE-BAFA-909408E98763}"/>
              </a:ext>
            </a:extLst>
          </p:cNvPr>
          <p:cNvSpPr>
            <a:spLocks xmlns:a="http://schemas.openxmlformats.org/drawingml/2006/main" noGrp="1"/>
          </p:cNvSpPr>
          <p:nvPr/>
        </p:nvSpPr>
        <p:spPr>
          <a:xfrm xmlns:a="http://schemas.openxmlformats.org/drawingml/2006/main">
            <a:off x="11182350" y="64293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65B69"/>
                </a:solidFill>
                <a:latin typeface="Arial"/>
                <a:ea typeface="Arial"/>
                <a:cs typeface="Arial"/>
              </a:defRPr>
            </a:defPPr>
          </a:lstStyle>
          <a:p xmlns:a="http://schemas.openxmlformats.org/drawingml/2006/main">
            <a:pPr>
              <a:defRPr sz="1350" b="0">
                <a:solidFill>
                  <a:srgbClr val="465B69"/>
                </a:solidFill>
                <a:latin typeface="Arial"/>
                <a:ea typeface="Arial"/>
                <a:cs typeface="Arial"/>
              </a:defRPr>
            </a:pPr>
            <a:r>
              <a:rPr sz="1350" b="0">
                <a:solidFill>
                  <a:srgbClr val="465B69"/>
                </a:solidFill>
                <a:latin typeface="Arial"/>
                <a:ea typeface="Arial"/>
                <a:cs typeface="Arial"/>
              </a:rPr>
              <a:t>9</a:t>
            </a:r>
          </a:p>
        </p:txBody>
      </p:sp>
      <p:graphicFrame>
        <p:nvGraphicFramePr>
          <p:cNvPr id="3" name="">
            <a:extLst xmlns:a="http://schemas.openxmlformats.org/drawingml/2006/main">
              <a:ext uri="{FF2B5EF4-FFF2-40B4-BE49-F238E27FC236}">
                <a16:creationId xmlns:a16="http://schemas.microsoft.com/office/drawing/2014/main" id="{4D2E157B-3D49-4AA3-8255-3D4CDD0D1661}"/>
              </a:ext>
            </a:extLst>
          </p:cNvPr>
          <p:cNvGraphicFramePr/>
          <p:nvPr/>
        </p:nvGraphicFramePr>
        <p:xfrm>
          <a:off xmlns:a="http://schemas.openxmlformats.org/drawingml/2006/main" x="609600" y="1476375"/>
          <a:ext xmlns:a="http://schemas.openxmlformats.org/drawingml/2006/main" cx="10972800" cy="2286000"/>
        </p:xfrm>
        <a:graphic xmlns:a="http://schemas.openxmlformats.org/drawingml/2006/main">
          <a:graphicData uri="http://schemas.openxmlformats.org/drawingml/2006/table">
            <a:tbl>
              <a:tblPr/>
              <a:tblGrid>
                <a:gridCol w="3905250"/>
                <a:gridCol w="2495550"/>
                <a:gridCol w="2286000"/>
                <a:gridCol w="2286000"/>
              </a:tblGrid>
              <a:tr h="762000">
                <a:tc>
                  <a:txBody>
                    <a:bodyPr/>
                    <a:lstStyle/>
                    <a:p>
                      <a:r>
                        <a:rPr sz="2250" b="1">
                          <a:solidFill>
                            <a:srgbClr val="FFFFFF"/>
                          </a:solidFill>
                          <a:latin typeface="Arial"/>
                          <a:ea typeface="Arial"/>
                          <a:cs typeface="Arial"/>
                        </a:rPr>
                        <a:t>So sánh giá</a:t>
                      </a:r>
                    </a:p>
                  </a:txBody>
                  <a:tcPr marL="91440" marR="91440" marT="45720" marB="45720">
                    <a:solidFill>
                      <a:srgbClr val="17354A"/>
                    </a:solidFill>
                  </a:tcPr>
                </a:tc>
                <a:tc>
                  <a:txBody>
                    <a:bodyPr/>
                    <a:lstStyle/>
                    <a:p>
                      <a:r>
                        <a:rPr sz="2250" b="1">
                          <a:solidFill>
                            <a:srgbClr val="FFFFFF"/>
                          </a:solidFill>
                          <a:latin typeface="Arial"/>
                          <a:ea typeface="Arial"/>
                          <a:cs typeface="Arial"/>
                        </a:rPr>
                        <a:t>F</a:t>
                      </a:r>
                    </a:p>
                  </a:txBody>
                  <a:tcPr marL="91440" marR="91440" marT="45720" marB="45720">
                    <a:solidFill>
                      <a:srgbClr val="17354A"/>
                    </a:solidFill>
                  </a:tcPr>
                </a:tc>
                <a:tc>
                  <a:txBody>
                    <a:bodyPr/>
                    <a:lstStyle/>
                    <a:p>
                      <a:r>
                        <a:rPr sz="2250" b="1">
                          <a:solidFill>
                            <a:srgbClr val="FFFFFF"/>
                          </a:solidFill>
                          <a:latin typeface="Arial"/>
                          <a:ea typeface="Arial"/>
                          <a:cs typeface="Arial"/>
                        </a:rPr>
                        <a:t>Số nhóm</a:t>
                      </a:r>
                    </a:p>
                  </a:txBody>
                  <a:tcPr marL="91440" marR="91440" marT="45720" marB="45720">
                    <a:solidFill>
                      <a:srgbClr val="17354A"/>
                    </a:solidFill>
                  </a:tcPr>
                </a:tc>
                <a:tc>
                  <a:txBody>
                    <a:bodyPr/>
                    <a:lstStyle/>
                    <a:p>
                      <a:r>
                        <a:rPr sz="2250" b="1">
                          <a:solidFill>
                            <a:srgbClr val="FFFFFF"/>
                          </a:solidFill>
                          <a:latin typeface="Arial"/>
                          <a:ea typeface="Arial"/>
                          <a:cs typeface="Arial"/>
                        </a:rPr>
                        <a:t>n nhỏ nhất</a:t>
                      </a:r>
                    </a:p>
                  </a:txBody>
                  <a:tcPr marL="91440" marR="91440" marT="45720" marB="45720">
                    <a:solidFill>
                      <a:srgbClr val="17354A"/>
                    </a:solidFill>
                  </a:tcPr>
                </a:tc>
              </a:tr>
              <a:tr h="762000">
                <a:tc>
                  <a:txBody>
                    <a:bodyPr/>
                    <a:lstStyle/>
                    <a:p>
                      <a:r>
                        <a:rPr sz="2250" b="0">
                          <a:solidFill>
                            <a:srgbClr val="172B3A"/>
                          </a:solidFill>
                          <a:latin typeface="Arial"/>
                          <a:ea typeface="Arial"/>
                          <a:cs typeface="Arial"/>
                        </a:rPr>
                        <a:t>Theo room_type</a:t>
                      </a:r>
                    </a:p>
                  </a:txBody>
                  <a:tcPr marL="91440" marR="91440" marT="45720" marB="45720">
                    <a:solidFill>
                      <a:srgbClr val="F1F6F8"/>
                    </a:solidFill>
                  </a:tcPr>
                </a:tc>
                <a:tc>
                  <a:txBody>
                    <a:bodyPr/>
                    <a:lstStyle/>
                    <a:p>
                      <a:r>
                        <a:rPr sz="2250" b="0">
                          <a:solidFill>
                            <a:srgbClr val="172B3A"/>
                          </a:solidFill>
                          <a:latin typeface="Arial"/>
                          <a:ea typeface="Arial"/>
                          <a:cs typeface="Arial"/>
                        </a:rPr>
                        <a:t>846,138</a:t>
                      </a:r>
                    </a:p>
                  </a:txBody>
                  <a:tcPr marL="91440" marR="91440" marT="45720" marB="45720">
                    <a:solidFill>
                      <a:srgbClr val="F1F6F8"/>
                    </a:solidFill>
                  </a:tcPr>
                </a:tc>
                <a:tc>
                  <a:txBody>
                    <a:bodyPr/>
                    <a:lstStyle/>
                    <a:p>
                      <a:r>
                        <a:rPr sz="2250" b="0">
                          <a:solidFill>
                            <a:srgbClr val="172B3A"/>
                          </a:solidFill>
                          <a:latin typeface="Arial"/>
                          <a:ea typeface="Arial"/>
                          <a:cs typeface="Arial"/>
                        </a:rPr>
                        <a:t>3</a:t>
                      </a:r>
                    </a:p>
                  </a:txBody>
                  <a:tcPr marL="91440" marR="91440" marT="45720" marB="45720">
                    <a:solidFill>
                      <a:srgbClr val="F1F6F8"/>
                    </a:solidFill>
                  </a:tcPr>
                </a:tc>
                <a:tc>
                  <a:txBody>
                    <a:bodyPr/>
                    <a:lstStyle/>
                    <a:p>
                      <a:r>
                        <a:rPr sz="2250" b="0">
                          <a:solidFill>
                            <a:srgbClr val="172B3A"/>
                          </a:solidFill>
                          <a:latin typeface="Arial"/>
                          <a:ea typeface="Arial"/>
                          <a:cs typeface="Arial"/>
                        </a:rPr>
                        <a:t>366</a:t>
                      </a:r>
                    </a:p>
                  </a:txBody>
                  <a:tcPr marL="91440" marR="91440" marT="45720" marB="45720">
                    <a:solidFill>
                      <a:srgbClr val="F1F6F8"/>
                    </a:solidFill>
                  </a:tcPr>
                </a:tc>
              </a:tr>
              <a:tr h="762000">
                <a:tc>
                  <a:txBody>
                    <a:bodyPr/>
                    <a:lstStyle/>
                    <a:p>
                      <a:r>
                        <a:rPr sz="2250" b="0">
                          <a:solidFill>
                            <a:srgbClr val="172B3A"/>
                          </a:solidFill>
                          <a:latin typeface="Arial"/>
                          <a:ea typeface="Arial"/>
                          <a:cs typeface="Arial"/>
                        </a:rPr>
                        <a:t>Theo city</a:t>
                      </a:r>
                    </a:p>
                  </a:txBody>
                  <a:tcPr marL="91440" marR="91440" marT="45720" marB="45720">
                    <a:solidFill>
                      <a:srgbClr val="FFFFFF"/>
                    </a:solidFill>
                  </a:tcPr>
                </a:tc>
                <a:tc>
                  <a:txBody>
                    <a:bodyPr/>
                    <a:lstStyle/>
                    <a:p>
                      <a:r>
                        <a:rPr sz="2250" b="0">
                          <a:solidFill>
                            <a:srgbClr val="172B3A"/>
                          </a:solidFill>
                          <a:latin typeface="Arial"/>
                          <a:ea typeface="Arial"/>
                          <a:cs typeface="Arial"/>
                        </a:rPr>
                        <a:t>605,719</a:t>
                      </a:r>
                    </a:p>
                  </a:txBody>
                  <a:tcPr marL="91440" marR="91440" marT="45720" marB="45720">
                    <a:solidFill>
                      <a:srgbClr val="FFFFFF"/>
                    </a:solidFill>
                  </a:tcPr>
                </a:tc>
                <a:tc>
                  <a:txBody>
                    <a:bodyPr/>
                    <a:lstStyle/>
                    <a:p>
                      <a:r>
                        <a:rPr sz="2250" b="0">
                          <a:solidFill>
                            <a:srgbClr val="172B3A"/>
                          </a:solidFill>
                          <a:latin typeface="Arial"/>
                          <a:ea typeface="Arial"/>
                          <a:cs typeface="Arial"/>
                        </a:rPr>
                        <a:t>10</a:t>
                      </a:r>
                    </a:p>
                  </a:txBody>
                  <a:tcPr marL="91440" marR="91440" marT="45720" marB="45720">
                    <a:solidFill>
                      <a:srgbClr val="FFFFFF"/>
                    </a:solidFill>
                  </a:tcPr>
                </a:tc>
                <a:tc>
                  <a:txBody>
                    <a:bodyPr/>
                    <a:lstStyle/>
                    <a:p>
                      <a:r>
                        <a:rPr sz="2250" b="0">
                          <a:solidFill>
                            <a:srgbClr val="172B3A"/>
                          </a:solidFill>
                          <a:latin typeface="Arial"/>
                          <a:ea typeface="Arial"/>
                          <a:cs typeface="Arial"/>
                        </a:rPr>
                        <a:t>2.080</a:t>
                      </a:r>
                    </a:p>
                  </a:txBody>
                  <a:tcPr marL="91440" marR="91440" marT="45720" marB="45720">
                    <a:solidFill>
                      <a:srgbClr val="FFFFFF"/>
                    </a:solidFill>
                  </a:tcPr>
                </a:tc>
              </a:tr>
            </a:tbl>
          </a:graphicData>
        </a:graphic>
      </p:graphicFrame>
      <p:sp>
        <p:nvSpPr>
          <p:cNvPr id="4" name="text-3">
            <a:extLst xmlns:a="http://schemas.openxmlformats.org/drawingml/2006/main">
              <a:ext uri="{FF2B5EF4-FFF2-40B4-BE49-F238E27FC236}">
                <a16:creationId xmlns:a16="http://schemas.microsoft.com/office/drawing/2014/main" id="{442C0694-7D80-47A0-937C-C97EE845B258}"/>
              </a:ext>
            </a:extLst>
          </p:cNvPr>
          <p:cNvSpPr>
            <a:spLocks xmlns:a="http://schemas.openxmlformats.org/drawingml/2006/main" noGrp="1"/>
          </p:cNvSpPr>
          <p:nvPr/>
        </p:nvSpPr>
        <p:spPr>
          <a:xfrm xmlns:a="http://schemas.openxmlformats.org/drawingml/2006/main">
            <a:off x="609600" y="42862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B3A"/>
                </a:solidFill>
                <a:latin typeface="Arial"/>
                <a:ea typeface="Arial"/>
                <a:cs typeface="Arial"/>
              </a:defRPr>
            </a:defPPr>
          </a:lstStyle>
          <a:p xmlns:a="http://schemas.openxmlformats.org/drawingml/2006/main">
            <a:pPr>
              <a:defRPr sz="2100" b="0">
                <a:solidFill>
                  <a:srgbClr val="172B3A"/>
                </a:solidFill>
                <a:latin typeface="Arial"/>
                <a:ea typeface="Arial"/>
                <a:cs typeface="Arial"/>
              </a:defRPr>
            </a:pPr>
            <a:r>
              <a:rPr sz="2100" b="0">
                <a:solidFill>
                  <a:srgbClr val="172B3A"/>
                </a:solidFill>
                <a:latin typeface="Arial"/>
                <a:ea typeface="Arial"/>
                <a:cs typeface="Arial"/>
              </a:rPr>
              <a:t>p dưới mức biểu diễn float64, không báo bằng 0</a:t>
            </a:r>
          </a:p>
        </p:txBody>
      </p:sp>
      <p:sp>
        <p:nvSpPr>
          <p:cNvPr id="5" name="text-4">
            <a:extLst xmlns:a="http://schemas.openxmlformats.org/drawingml/2006/main">
              <a:ext uri="{FF2B5EF4-FFF2-40B4-BE49-F238E27FC236}">
                <a16:creationId xmlns:a16="http://schemas.microsoft.com/office/drawing/2014/main" id="{358E4AD8-C2B0-404F-BFC9-888273043D80}"/>
              </a:ext>
            </a:extLst>
          </p:cNvPr>
          <p:cNvSpPr>
            <a:spLocks xmlns:a="http://schemas.openxmlformats.org/drawingml/2006/main" noGrp="1"/>
          </p:cNvSpPr>
          <p:nvPr/>
        </p:nvSpPr>
        <p:spPr>
          <a:xfrm xmlns:a="http://schemas.openxmlformats.org/drawingml/2006/main">
            <a:off x="609600" y="49339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B3A"/>
                </a:solidFill>
                <a:latin typeface="Arial"/>
                <a:ea typeface="Arial"/>
                <a:cs typeface="Arial"/>
              </a:defRPr>
            </a:defPPr>
          </a:lstStyle>
          <a:p xmlns:a="http://schemas.openxmlformats.org/drawingml/2006/main">
            <a:pPr>
              <a:defRPr sz="2100" b="0">
                <a:solidFill>
                  <a:srgbClr val="172B3A"/>
                </a:solidFill>
                <a:latin typeface="Arial"/>
                <a:ea typeface="Arial"/>
                <a:cs typeface="Arial"/>
              </a:defRPr>
            </a:pPr>
            <a:r>
              <a:rPr sz="2100" b="0">
                <a:solidFill>
                  <a:srgbClr val="172B3A"/>
                </a:solidFill>
                <a:latin typeface="Arial"/>
                <a:ea typeface="Arial"/>
                <a:cs typeface="Arial"/>
              </a:rPr>
              <a:t>Phương sai room_type: tỷ số lớn nhất/nhỏ nhất ≈19,69</a:t>
            </a:r>
          </a:p>
        </p:txBody>
      </p:sp>
      <p:sp>
        <p:nvSpPr>
          <p:cNvPr id="6" name="text-5">
            <a:extLst xmlns:a="http://schemas.openxmlformats.org/drawingml/2006/main">
              <a:ext uri="{FF2B5EF4-FFF2-40B4-BE49-F238E27FC236}">
                <a16:creationId xmlns:a16="http://schemas.microsoft.com/office/drawing/2014/main" id="{BA65B68B-02E9-4DEE-8F96-52ED52F755D7}"/>
              </a:ext>
            </a:extLst>
          </p:cNvPr>
          <p:cNvSpPr>
            <a:spLocks xmlns:a="http://schemas.openxmlformats.org/drawingml/2006/main" noGrp="1"/>
          </p:cNvSpPr>
          <p:nvPr/>
        </p:nvSpPr>
        <p:spPr>
          <a:xfrm xmlns:a="http://schemas.openxmlformats.org/drawingml/2006/main">
            <a:off x="609600" y="55816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B3A"/>
                </a:solidFill>
                <a:latin typeface="Arial"/>
                <a:ea typeface="Arial"/>
                <a:cs typeface="Arial"/>
              </a:defRPr>
            </a:defPPr>
          </a:lstStyle>
          <a:p xmlns:a="http://schemas.openxmlformats.org/drawingml/2006/main">
            <a:pPr>
              <a:defRPr sz="2100" b="0">
                <a:solidFill>
                  <a:srgbClr val="172B3A"/>
                </a:solidFill>
                <a:latin typeface="Arial"/>
                <a:ea typeface="Arial"/>
                <a:cs typeface="Arial"/>
              </a:defRPr>
            </a:pPr>
            <a:r>
              <a:rPr sz="2100" b="0">
                <a:solidFill>
                  <a:srgbClr val="172B3A"/>
                </a:solidFill>
                <a:latin typeface="Arial"/>
                <a:ea typeface="Arial"/>
                <a:cs typeface="Arial"/>
              </a:rPr>
              <a:t>Giá lệch, nhóm mất cân đối, độc lập chưa xác minh</a:t>
            </a:r>
          </a:p>
        </p:txBody>
      </p:sp>
    </p:spTree>
    <p:extLst>
      <p:ext uri="{BB962C8B-B14F-4D97-AF65-F5344CB8AC3E}">
        <p14:creationId xmlns:p14="http://schemas.microsoft.com/office/powerpoint/2010/main" val="69443097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1">
            <a:extLst xmlns:a="http://schemas.openxmlformats.org/drawingml/2006/main">
              <a:ext uri="{FF2B5EF4-FFF2-40B4-BE49-F238E27FC236}">
                <a16:creationId xmlns:a16="http://schemas.microsoft.com/office/drawing/2014/main" id="{817DE262-3A10-4865-B2C7-74F3CCDC4BDA}"/>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54A"/>
                </a:solidFill>
                <a:latin typeface="Arial"/>
                <a:ea typeface="Arial"/>
                <a:cs typeface="Arial"/>
              </a:defRPr>
            </a:defPPr>
          </a:lstStyle>
          <a:p xmlns:a="http://schemas.openxmlformats.org/drawingml/2006/main">
            <a:pPr>
              <a:defRPr sz="3150" b="1">
                <a:solidFill>
                  <a:srgbClr val="17354A"/>
                </a:solidFill>
                <a:latin typeface="Arial"/>
                <a:ea typeface="Arial"/>
                <a:cs typeface="Arial"/>
              </a:defRPr>
            </a:pPr>
            <a:r>
              <a:rPr sz="3150" b="1">
                <a:solidFill>
                  <a:srgbClr val="17354A"/>
                </a:solidFill>
                <a:latin typeface="Arial"/>
                <a:ea typeface="Arial"/>
                <a:cs typeface="Arial"/>
              </a:rPr>
              <a:t>Các mô hình hồi quy đã triển khai</a:t>
            </a:r>
          </a:p>
        </p:txBody>
      </p:sp>
      <p:sp>
        <p:nvSpPr>
          <p:cNvPr id="2" name="text-2">
            <a:extLst xmlns:a="http://schemas.openxmlformats.org/drawingml/2006/main">
              <a:ext uri="{FF2B5EF4-FFF2-40B4-BE49-F238E27FC236}">
                <a16:creationId xmlns:a16="http://schemas.microsoft.com/office/drawing/2014/main" id="{8626A073-2E9A-4101-A841-CF6469C88B8F}"/>
              </a:ext>
            </a:extLst>
          </p:cNvPr>
          <p:cNvSpPr>
            <a:spLocks xmlns:a="http://schemas.openxmlformats.org/drawingml/2006/main" noGrp="1"/>
          </p:cNvSpPr>
          <p:nvPr/>
        </p:nvSpPr>
        <p:spPr>
          <a:xfrm xmlns:a="http://schemas.openxmlformats.org/drawingml/2006/main">
            <a:off x="11182350" y="64293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65B69"/>
                </a:solidFill>
                <a:latin typeface="Arial"/>
                <a:ea typeface="Arial"/>
                <a:cs typeface="Arial"/>
              </a:defRPr>
            </a:defPPr>
          </a:lstStyle>
          <a:p xmlns:a="http://schemas.openxmlformats.org/drawingml/2006/main">
            <a:pPr>
              <a:defRPr sz="1350" b="0">
                <a:solidFill>
                  <a:srgbClr val="465B69"/>
                </a:solidFill>
                <a:latin typeface="Arial"/>
                <a:ea typeface="Arial"/>
                <a:cs typeface="Arial"/>
              </a:defRPr>
            </a:pPr>
            <a:r>
              <a:rPr sz="1350" b="0">
                <a:solidFill>
                  <a:srgbClr val="465B69"/>
                </a:solidFill>
                <a:latin typeface="Arial"/>
                <a:ea typeface="Arial"/>
                <a:cs typeface="Arial"/>
              </a:rPr>
              <a:t>10</a:t>
            </a:r>
          </a:p>
        </p:txBody>
      </p:sp>
      <p:graphicFrame>
        <p:nvGraphicFramePr>
          <p:cNvPr id="3" name="">
            <a:extLst xmlns:a="http://schemas.openxmlformats.org/drawingml/2006/main">
              <a:ext uri="{FF2B5EF4-FFF2-40B4-BE49-F238E27FC236}">
                <a16:creationId xmlns:a16="http://schemas.microsoft.com/office/drawing/2014/main" id="{9CA228BC-0407-4F00-9815-9C681053DEC8}"/>
              </a:ext>
            </a:extLst>
          </p:cNvPr>
          <p:cNvGraphicFramePr/>
          <p:nvPr/>
        </p:nvGraphicFramePr>
        <p:xfrm>
          <a:off xmlns:a="http://schemas.openxmlformats.org/drawingml/2006/main" x="609600" y="1476375"/>
          <a:ext xmlns:a="http://schemas.openxmlformats.org/drawingml/2006/main" cx="10972800" cy="4000500"/>
        </p:xfrm>
        <a:graphic xmlns:a="http://schemas.openxmlformats.org/drawingml/2006/main">
          <a:graphicData uri="http://schemas.openxmlformats.org/drawingml/2006/table">
            <a:tbl>
              <a:tblPr/>
              <a:tblGrid>
                <a:gridCol w="1047750"/>
                <a:gridCol w="9925050"/>
              </a:tblGrid>
              <a:tr h="666750">
                <a:tc>
                  <a:txBody>
                    <a:bodyPr/>
                    <a:lstStyle/>
                    <a:p>
                      <a:r>
                        <a:rPr sz="2025" b="1">
                          <a:solidFill>
                            <a:srgbClr val="FFFFFF"/>
                          </a:solidFill>
                          <a:latin typeface="Arial"/>
                          <a:ea typeface="Arial"/>
                          <a:cs typeface="Arial"/>
                        </a:rPr>
                        <a:t>Mã</a:t>
                      </a:r>
                    </a:p>
                  </a:txBody>
                  <a:tcPr marL="91440" marR="91440" marT="45720" marB="45720">
                    <a:solidFill>
                      <a:srgbClr val="17354A"/>
                    </a:solidFill>
                  </a:tcPr>
                </a:tc>
                <a:tc>
                  <a:txBody>
                    <a:bodyPr/>
                    <a:lstStyle/>
                    <a:p>
                      <a:r>
                        <a:rPr sz="2025" b="1">
                          <a:solidFill>
                            <a:srgbClr val="FFFFFF"/>
                          </a:solidFill>
                          <a:latin typeface="Arial"/>
                          <a:ea typeface="Arial"/>
                          <a:cs typeface="Arial"/>
                        </a:rPr>
                        <a:t>Cấu hình</a:t>
                      </a:r>
                    </a:p>
                  </a:txBody>
                  <a:tcPr marL="91440" marR="91440" marT="45720" marB="45720">
                    <a:solidFill>
                      <a:srgbClr val="17354A"/>
                    </a:solidFill>
                  </a:tcPr>
                </a:tc>
              </a:tr>
              <a:tr h="666750">
                <a:tc>
                  <a:txBody>
                    <a:bodyPr/>
                    <a:lstStyle/>
                    <a:p>
                      <a:r>
                        <a:rPr sz="2025" b="0">
                          <a:solidFill>
                            <a:srgbClr val="172B3A"/>
                          </a:solidFill>
                          <a:latin typeface="Arial"/>
                          <a:ea typeface="Arial"/>
                          <a:cs typeface="Arial"/>
                        </a:rPr>
                        <a:t>M0</a:t>
                      </a:r>
                    </a:p>
                  </a:txBody>
                  <a:tcPr marL="91440" marR="91440" marT="45720" marB="45720">
                    <a:solidFill>
                      <a:srgbClr val="F1F6F8"/>
                    </a:solidFill>
                  </a:tcPr>
                </a:tc>
                <a:tc>
                  <a:txBody>
                    <a:bodyPr/>
                    <a:lstStyle/>
                    <a:p>
                      <a:r>
                        <a:rPr sz="2025" b="0">
                          <a:solidFill>
                            <a:srgbClr val="172B3A"/>
                          </a:solidFill>
                          <a:latin typeface="Arial"/>
                          <a:ea typeface="Arial"/>
                          <a:cs typeface="Arial"/>
                        </a:rPr>
                        <a:t>Dự đoán trung bình train</a:t>
                      </a:r>
                    </a:p>
                  </a:txBody>
                  <a:tcPr marL="91440" marR="91440" marT="45720" marB="45720">
                    <a:solidFill>
                      <a:srgbClr val="F1F6F8"/>
                    </a:solidFill>
                  </a:tcPr>
                </a:tc>
              </a:tr>
              <a:tr h="666750">
                <a:tc>
                  <a:txBody>
                    <a:bodyPr/>
                    <a:lstStyle/>
                    <a:p>
                      <a:r>
                        <a:rPr sz="2025" b="0">
                          <a:solidFill>
                            <a:srgbClr val="172B3A"/>
                          </a:solidFill>
                          <a:latin typeface="Arial"/>
                          <a:ea typeface="Arial"/>
                          <a:cs typeface="Arial"/>
                        </a:rPr>
                        <a:t>M1</a:t>
                      </a:r>
                    </a:p>
                  </a:txBody>
                  <a:tcPr marL="91440" marR="91440" marT="45720" marB="45720">
                    <a:solidFill>
                      <a:srgbClr val="FFFFFF"/>
                    </a:solidFill>
                  </a:tcPr>
                </a:tc>
                <a:tc>
                  <a:txBody>
                    <a:bodyPr/>
                    <a:lstStyle/>
                    <a:p>
                      <a:r>
                        <a:rPr sz="2025" b="0">
                          <a:solidFill>
                            <a:srgbClr val="172B3A"/>
                          </a:solidFill>
                          <a:latin typeface="Arial"/>
                          <a:ea typeface="Arial"/>
                          <a:cs typeface="Arial"/>
                        </a:rPr>
                        <a:t>Tuyến tính đơn biến person_capacity</a:t>
                      </a:r>
                    </a:p>
                  </a:txBody>
                  <a:tcPr marL="91440" marR="91440" marT="45720" marB="45720">
                    <a:solidFill>
                      <a:srgbClr val="FFFFFF"/>
                    </a:solidFill>
                  </a:tcPr>
                </a:tc>
              </a:tr>
              <a:tr h="666750">
                <a:tc>
                  <a:txBody>
                    <a:bodyPr/>
                    <a:lstStyle/>
                    <a:p>
                      <a:r>
                        <a:rPr sz="2025" b="0">
                          <a:solidFill>
                            <a:srgbClr val="172B3A"/>
                          </a:solidFill>
                          <a:latin typeface="Arial"/>
                          <a:ea typeface="Arial"/>
                          <a:cs typeface="Arial"/>
                        </a:rPr>
                        <a:t>M2</a:t>
                      </a:r>
                    </a:p>
                  </a:txBody>
                  <a:tcPr marL="91440" marR="91440" marT="45720" marB="45720">
                    <a:solidFill>
                      <a:srgbClr val="F1F6F8"/>
                    </a:solidFill>
                  </a:tcPr>
                </a:tc>
                <a:tc>
                  <a:txBody>
                    <a:bodyPr/>
                    <a:lstStyle/>
                    <a:p>
                      <a:r>
                        <a:rPr sz="2025" b="0">
                          <a:solidFill>
                            <a:srgbClr val="172B3A"/>
                          </a:solidFill>
                          <a:latin typeface="Arial"/>
                          <a:ea typeface="Arial"/>
                          <a:cs typeface="Arial"/>
                        </a:rPr>
                        <a:t>Tuyến tính đa biến với allowlist chung</a:t>
                      </a:r>
                    </a:p>
                  </a:txBody>
                  <a:tcPr marL="91440" marR="91440" marT="45720" marB="45720">
                    <a:solidFill>
                      <a:srgbClr val="F1F6F8"/>
                    </a:solidFill>
                  </a:tcPr>
                </a:tc>
              </a:tr>
              <a:tr h="666750">
                <a:tc>
                  <a:txBody>
                    <a:bodyPr/>
                    <a:lstStyle/>
                    <a:p>
                      <a:r>
                        <a:rPr sz="2025" b="0">
                          <a:solidFill>
                            <a:srgbClr val="172B3A"/>
                          </a:solidFill>
                          <a:latin typeface="Arial"/>
                          <a:ea typeface="Arial"/>
                          <a:cs typeface="Arial"/>
                        </a:rPr>
                        <a:t>M3</a:t>
                      </a:r>
                    </a:p>
                  </a:txBody>
                  <a:tcPr marL="91440" marR="91440" marT="45720" marB="45720">
                    <a:solidFill>
                      <a:srgbClr val="FFFFFF"/>
                    </a:solidFill>
                  </a:tcPr>
                </a:tc>
                <a:tc>
                  <a:txBody>
                    <a:bodyPr/>
                    <a:lstStyle/>
                    <a:p>
                      <a:r>
                        <a:rPr sz="2025" b="0">
                          <a:solidFill>
                            <a:srgbClr val="172B3A"/>
                          </a:solidFill>
                          <a:latin typeface="Arial"/>
                          <a:ea typeface="Arial"/>
                          <a:cs typeface="Arial"/>
                        </a:rPr>
                        <a:t>Đa thức: sức chứa, bedrooms, dist; thử bậc 2/3</a:t>
                      </a:r>
                    </a:p>
                  </a:txBody>
                  <a:tcPr marL="91440" marR="91440" marT="45720" marB="45720">
                    <a:solidFill>
                      <a:srgbClr val="FFFFFF"/>
                    </a:solidFill>
                  </a:tcPr>
                </a:tc>
              </a:tr>
              <a:tr h="666750">
                <a:tc>
                  <a:txBody>
                    <a:bodyPr/>
                    <a:lstStyle/>
                    <a:p>
                      <a:r>
                        <a:rPr sz="2025" b="0">
                          <a:solidFill>
                            <a:srgbClr val="172B3A"/>
                          </a:solidFill>
                          <a:latin typeface="Arial"/>
                          <a:ea typeface="Arial"/>
                          <a:cs typeface="Arial"/>
                        </a:rPr>
                        <a:t>M4</a:t>
                      </a:r>
                    </a:p>
                  </a:txBody>
                  <a:tcPr marL="91440" marR="91440" marT="45720" marB="45720">
                    <a:solidFill>
                      <a:srgbClr val="F1F6F8"/>
                    </a:solidFill>
                  </a:tcPr>
                </a:tc>
                <a:tc>
                  <a:txBody>
                    <a:bodyPr/>
                    <a:lstStyle/>
                    <a:p>
                      <a:r>
                        <a:rPr sz="2025" b="0">
                          <a:solidFill>
                            <a:srgbClr val="172B3A"/>
                          </a:solidFill>
                          <a:latin typeface="Arial"/>
                          <a:ea typeface="Arial"/>
                          <a:cs typeface="Arial"/>
                        </a:rPr>
                        <a:t>Ridge: alpha 0,001 đến 1.000, cùng allowlist</a:t>
                      </a:r>
                    </a:p>
                  </a:txBody>
                  <a:tcPr marL="91440" marR="91440" marT="45720" marB="45720">
                    <a:solidFill>
                      <a:srgbClr val="F1F6F8"/>
                    </a:solidFill>
                  </a:tcPr>
                </a:tc>
              </a:tr>
            </a:tbl>
          </a:graphicData>
        </a:graphic>
      </p:graphicFrame>
      <p:sp>
        <p:nvSpPr>
          <p:cNvPr id="4" name="text-3">
            <a:extLst xmlns:a="http://schemas.openxmlformats.org/drawingml/2006/main">
              <a:ext uri="{FF2B5EF4-FFF2-40B4-BE49-F238E27FC236}">
                <a16:creationId xmlns:a16="http://schemas.microsoft.com/office/drawing/2014/main" id="{69BB111D-A775-44E0-9392-665D804C0DFB}"/>
              </a:ext>
            </a:extLst>
          </p:cNvPr>
          <p:cNvSpPr>
            <a:spLocks xmlns:a="http://schemas.openxmlformats.org/drawingml/2006/main" noGrp="1"/>
          </p:cNvSpPr>
          <p:nvPr/>
        </p:nvSpPr>
        <p:spPr>
          <a:xfrm xmlns:a="http://schemas.openxmlformats.org/drawingml/2006/main">
            <a:off x="609600" y="58293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7A93"/>
                </a:solidFill>
                <a:latin typeface="Arial"/>
                <a:ea typeface="Arial"/>
                <a:cs typeface="Arial"/>
              </a:defRPr>
            </a:defPPr>
          </a:lstStyle>
          <a:p xmlns:a="http://schemas.openxmlformats.org/drawingml/2006/main">
            <a:pPr>
              <a:defRPr sz="2025" b="0">
                <a:solidFill>
                  <a:srgbClr val="147A93"/>
                </a:solidFill>
                <a:latin typeface="Arial"/>
                <a:ea typeface="Arial"/>
                <a:cs typeface="Arial"/>
              </a:defRPr>
            </a:pPr>
            <a:r>
              <a:rPr sz="2025" b="0">
                <a:solidFill>
                  <a:srgbClr val="147A93"/>
                </a:solidFill>
                <a:latin typeface="Arial"/>
                <a:ea typeface="Arial"/>
                <a:cs typeface="Arial"/>
              </a:rPr>
              <a:t>Pipeline dùng cùng split và fold cho tất cả mô hình</a:t>
            </a:r>
          </a:p>
        </p:txBody>
      </p:sp>
    </p:spTree>
    <p:extLst>
      <p:ext uri="{BB962C8B-B14F-4D97-AF65-F5344CB8AC3E}">
        <p14:creationId xmlns:p14="http://schemas.microsoft.com/office/powerpoint/2010/main" val="203141428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1">
            <a:extLst xmlns:a="http://schemas.openxmlformats.org/drawingml/2006/main">
              <a:ext uri="{FF2B5EF4-FFF2-40B4-BE49-F238E27FC236}">
                <a16:creationId xmlns:a16="http://schemas.microsoft.com/office/drawing/2014/main" id="{492D5F26-4572-4AC5-ADDF-B66D387DB241}"/>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54A"/>
                </a:solidFill>
                <a:latin typeface="Arial"/>
                <a:ea typeface="Arial"/>
                <a:cs typeface="Arial"/>
              </a:defRPr>
            </a:defPPr>
          </a:lstStyle>
          <a:p xmlns:a="http://schemas.openxmlformats.org/drawingml/2006/main">
            <a:pPr>
              <a:defRPr sz="3150" b="1">
                <a:solidFill>
                  <a:srgbClr val="17354A"/>
                </a:solidFill>
                <a:latin typeface="Arial"/>
                <a:ea typeface="Arial"/>
                <a:cs typeface="Arial"/>
              </a:defRPr>
            </a:pPr>
            <a:r>
              <a:rPr sz="3150" b="1">
                <a:solidFill>
                  <a:srgbClr val="17354A"/>
                </a:solidFill>
                <a:latin typeface="Arial"/>
                <a:ea typeface="Arial"/>
                <a:cs typeface="Arial"/>
              </a:rPr>
              <a:t>Chọn mô hình bằng MSE CV</a:t>
            </a:r>
          </a:p>
        </p:txBody>
      </p:sp>
      <p:sp>
        <p:nvSpPr>
          <p:cNvPr id="2" name="text-2">
            <a:extLst xmlns:a="http://schemas.openxmlformats.org/drawingml/2006/main">
              <a:ext uri="{FF2B5EF4-FFF2-40B4-BE49-F238E27FC236}">
                <a16:creationId xmlns:a16="http://schemas.microsoft.com/office/drawing/2014/main" id="{D57FB7C3-2EE5-48B7-AAA3-222A48E5206D}"/>
              </a:ext>
            </a:extLst>
          </p:cNvPr>
          <p:cNvSpPr>
            <a:spLocks xmlns:a="http://schemas.openxmlformats.org/drawingml/2006/main" noGrp="1"/>
          </p:cNvSpPr>
          <p:nvPr/>
        </p:nvSpPr>
        <p:spPr>
          <a:xfrm xmlns:a="http://schemas.openxmlformats.org/drawingml/2006/main">
            <a:off x="11182350" y="64293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65B69"/>
                </a:solidFill>
                <a:latin typeface="Arial"/>
                <a:ea typeface="Arial"/>
                <a:cs typeface="Arial"/>
              </a:defRPr>
            </a:defPPr>
          </a:lstStyle>
          <a:p xmlns:a="http://schemas.openxmlformats.org/drawingml/2006/main">
            <a:pPr>
              <a:defRPr sz="1350" b="0">
                <a:solidFill>
                  <a:srgbClr val="465B69"/>
                </a:solidFill>
                <a:latin typeface="Arial"/>
                <a:ea typeface="Arial"/>
                <a:cs typeface="Arial"/>
              </a:defRPr>
            </a:pPr>
            <a:r>
              <a:rPr sz="1350" b="0">
                <a:solidFill>
                  <a:srgbClr val="465B69"/>
                </a:solidFill>
                <a:latin typeface="Arial"/>
                <a:ea typeface="Arial"/>
                <a:cs typeface="Arial"/>
              </a:rPr>
              <a:t>11</a:t>
            </a:r>
          </a:p>
        </p:txBody>
      </p:sp>
      <p:graphicFrame>
        <p:nvGraphicFramePr>
          <p:cNvPr id="3" name="">
            <a:extLst xmlns:a="http://schemas.openxmlformats.org/drawingml/2006/main">
              <a:ext uri="{FF2B5EF4-FFF2-40B4-BE49-F238E27FC236}">
                <a16:creationId xmlns:a16="http://schemas.microsoft.com/office/drawing/2014/main" id="{472D579D-D0E8-4E09-907F-46E1633EFC18}"/>
              </a:ext>
            </a:extLst>
          </p:cNvPr>
          <p:cNvGraphicFramePr/>
          <p:nvPr/>
        </p:nvGraphicFramePr>
        <p:xfrm>
          <a:off xmlns:a="http://schemas.openxmlformats.org/drawingml/2006/main" x="609600" y="1476375"/>
          <a:ext xmlns:a="http://schemas.openxmlformats.org/drawingml/2006/main" cx="10972800" cy="3619500"/>
        </p:xfrm>
        <a:graphic xmlns:a="http://schemas.openxmlformats.org/drawingml/2006/main">
          <a:graphicData uri="http://schemas.openxmlformats.org/drawingml/2006/table">
            <a:tbl>
              <a:tblPr/>
              <a:tblGrid>
                <a:gridCol w="2095500"/>
                <a:gridCol w="3333750"/>
                <a:gridCol w="2857500"/>
                <a:gridCol w="2686050"/>
              </a:tblGrid>
              <a:tr h="603250">
                <a:tc>
                  <a:txBody>
                    <a:bodyPr/>
                    <a:lstStyle/>
                    <a:p>
                      <a:r>
                        <a:rPr sz="2250" b="1">
                          <a:solidFill>
                            <a:srgbClr val="FFFFFF"/>
                          </a:solidFill>
                          <a:latin typeface="Arial"/>
                          <a:ea typeface="Arial"/>
                          <a:cs typeface="Arial"/>
                        </a:rPr>
                        <a:t>Mô hình</a:t>
                      </a:r>
                    </a:p>
                  </a:txBody>
                  <a:tcPr marL="91440" marR="91440" marT="45720" marB="45720">
                    <a:solidFill>
                      <a:srgbClr val="17354A"/>
                    </a:solidFill>
                  </a:tcPr>
                </a:tc>
                <a:tc>
                  <a:txBody>
                    <a:bodyPr/>
                    <a:lstStyle/>
                    <a:p>
                      <a:r>
                        <a:rPr sz="2250" b="1">
                          <a:solidFill>
                            <a:srgbClr val="FFFFFF"/>
                          </a:solidFill>
                          <a:latin typeface="Arial"/>
                          <a:ea typeface="Arial"/>
                          <a:cs typeface="Arial"/>
                        </a:rPr>
                        <a:t>CV MSE</a:t>
                      </a:r>
                    </a:p>
                  </a:txBody>
                  <a:tcPr marL="91440" marR="91440" marT="45720" marB="45720">
                    <a:solidFill>
                      <a:srgbClr val="17354A"/>
                    </a:solidFill>
                  </a:tcPr>
                </a:tc>
                <a:tc>
                  <a:txBody>
                    <a:bodyPr/>
                    <a:lstStyle/>
                    <a:p>
                      <a:r>
                        <a:rPr sz="2250" b="1">
                          <a:solidFill>
                            <a:srgbClr val="FFFFFF"/>
                          </a:solidFill>
                          <a:latin typeface="Arial"/>
                          <a:ea typeface="Arial"/>
                          <a:cs typeface="Arial"/>
                        </a:rPr>
                        <a:t>CV RMSE</a:t>
                      </a:r>
                    </a:p>
                  </a:txBody>
                  <a:tcPr marL="91440" marR="91440" marT="45720" marB="45720">
                    <a:solidFill>
                      <a:srgbClr val="17354A"/>
                    </a:solidFill>
                  </a:tcPr>
                </a:tc>
                <a:tc>
                  <a:txBody>
                    <a:bodyPr/>
                    <a:lstStyle/>
                    <a:p>
                      <a:r>
                        <a:rPr sz="2250" b="1">
                          <a:solidFill>
                            <a:srgbClr val="FFFFFF"/>
                          </a:solidFill>
                          <a:latin typeface="Arial"/>
                          <a:ea typeface="Arial"/>
                          <a:cs typeface="Arial"/>
                        </a:rPr>
                        <a:t>CV R²</a:t>
                      </a:r>
                    </a:p>
                  </a:txBody>
                  <a:tcPr marL="91440" marR="91440" marT="45720" marB="45720">
                    <a:solidFill>
                      <a:srgbClr val="17354A"/>
                    </a:solidFill>
                  </a:tcPr>
                </a:tc>
              </a:tr>
              <a:tr h="603250">
                <a:tc>
                  <a:txBody>
                    <a:bodyPr/>
                    <a:lstStyle/>
                    <a:p>
                      <a:r>
                        <a:rPr sz="2250" b="0">
                          <a:solidFill>
                            <a:srgbClr val="172B3A"/>
                          </a:solidFill>
                          <a:latin typeface="Arial"/>
                          <a:ea typeface="Arial"/>
                          <a:cs typeface="Arial"/>
                        </a:rPr>
                        <a:t>M0</a:t>
                      </a:r>
                    </a:p>
                  </a:txBody>
                  <a:tcPr marL="91440" marR="91440" marT="45720" marB="45720">
                    <a:solidFill>
                      <a:srgbClr val="F1F6F8"/>
                    </a:solidFill>
                  </a:tcPr>
                </a:tc>
                <a:tc>
                  <a:txBody>
                    <a:bodyPr/>
                    <a:lstStyle/>
                    <a:p>
                      <a:r>
                        <a:rPr sz="2250" b="0">
                          <a:solidFill>
                            <a:srgbClr val="172B3A"/>
                          </a:solidFill>
                          <a:latin typeface="Arial"/>
                          <a:ea typeface="Arial"/>
                          <a:cs typeface="Arial"/>
                        </a:rPr>
                        <a:t>104.402,75</a:t>
                      </a:r>
                    </a:p>
                  </a:txBody>
                  <a:tcPr marL="91440" marR="91440" marT="45720" marB="45720">
                    <a:solidFill>
                      <a:srgbClr val="F1F6F8"/>
                    </a:solidFill>
                  </a:tcPr>
                </a:tc>
                <a:tc>
                  <a:txBody>
                    <a:bodyPr/>
                    <a:lstStyle/>
                    <a:p>
                      <a:r>
                        <a:rPr sz="2250" b="0">
                          <a:solidFill>
                            <a:srgbClr val="172B3A"/>
                          </a:solidFill>
                          <a:latin typeface="Arial"/>
                          <a:ea typeface="Arial"/>
                          <a:cs typeface="Arial"/>
                        </a:rPr>
                        <a:t>322,09</a:t>
                      </a:r>
                    </a:p>
                  </a:txBody>
                  <a:tcPr marL="91440" marR="91440" marT="45720" marB="45720">
                    <a:solidFill>
                      <a:srgbClr val="F1F6F8"/>
                    </a:solidFill>
                  </a:tcPr>
                </a:tc>
                <a:tc>
                  <a:txBody>
                    <a:bodyPr/>
                    <a:lstStyle/>
                    <a:p>
                      <a:r>
                        <a:rPr sz="2250" b="0">
                          <a:solidFill>
                            <a:srgbClr val="172B3A"/>
                          </a:solidFill>
                          <a:latin typeface="Arial"/>
                          <a:ea typeface="Arial"/>
                          <a:cs typeface="Arial"/>
                        </a:rPr>
                        <a:t>-0,0000</a:t>
                      </a:r>
                    </a:p>
                  </a:txBody>
                  <a:tcPr marL="91440" marR="91440" marT="45720" marB="45720">
                    <a:solidFill>
                      <a:srgbClr val="F1F6F8"/>
                    </a:solidFill>
                  </a:tcPr>
                </a:tc>
              </a:tr>
              <a:tr h="603250">
                <a:tc>
                  <a:txBody>
                    <a:bodyPr/>
                    <a:lstStyle/>
                    <a:p>
                      <a:r>
                        <a:rPr sz="2250" b="0">
                          <a:solidFill>
                            <a:srgbClr val="172B3A"/>
                          </a:solidFill>
                          <a:latin typeface="Arial"/>
                          <a:ea typeface="Arial"/>
                          <a:cs typeface="Arial"/>
                        </a:rPr>
                        <a:t>M1</a:t>
                      </a:r>
                    </a:p>
                  </a:txBody>
                  <a:tcPr marL="91440" marR="91440" marT="45720" marB="45720">
                    <a:solidFill>
                      <a:srgbClr val="FFFFFF"/>
                    </a:solidFill>
                  </a:tcPr>
                </a:tc>
                <a:tc>
                  <a:txBody>
                    <a:bodyPr/>
                    <a:lstStyle/>
                    <a:p>
                      <a:r>
                        <a:rPr sz="2250" b="0">
                          <a:solidFill>
                            <a:srgbClr val="172B3A"/>
                          </a:solidFill>
                          <a:latin typeface="Arial"/>
                          <a:ea typeface="Arial"/>
                          <a:cs typeface="Arial"/>
                        </a:rPr>
                        <a:t>99.919,96</a:t>
                      </a:r>
                    </a:p>
                  </a:txBody>
                  <a:tcPr marL="91440" marR="91440" marT="45720" marB="45720">
                    <a:solidFill>
                      <a:srgbClr val="FFFFFF"/>
                    </a:solidFill>
                  </a:tcPr>
                </a:tc>
                <a:tc>
                  <a:txBody>
                    <a:bodyPr/>
                    <a:lstStyle/>
                    <a:p>
                      <a:r>
                        <a:rPr sz="2250" b="0">
                          <a:solidFill>
                            <a:srgbClr val="172B3A"/>
                          </a:solidFill>
                          <a:latin typeface="Arial"/>
                          <a:ea typeface="Arial"/>
                          <a:cs typeface="Arial"/>
                        </a:rPr>
                        <a:t>314,99</a:t>
                      </a:r>
                    </a:p>
                  </a:txBody>
                  <a:tcPr marL="91440" marR="91440" marT="45720" marB="45720">
                    <a:solidFill>
                      <a:srgbClr val="FFFFFF"/>
                    </a:solidFill>
                  </a:tcPr>
                </a:tc>
                <a:tc>
                  <a:txBody>
                    <a:bodyPr/>
                    <a:lstStyle/>
                    <a:p>
                      <a:r>
                        <a:rPr sz="2250" b="0">
                          <a:solidFill>
                            <a:srgbClr val="172B3A"/>
                          </a:solidFill>
                          <a:latin typeface="Arial"/>
                          <a:ea typeface="Arial"/>
                          <a:cs typeface="Arial"/>
                        </a:rPr>
                        <a:t>0,0443</a:t>
                      </a:r>
                    </a:p>
                  </a:txBody>
                  <a:tcPr marL="91440" marR="91440" marT="45720" marB="45720">
                    <a:solidFill>
                      <a:srgbClr val="FFFFFF"/>
                    </a:solidFill>
                  </a:tcPr>
                </a:tc>
              </a:tr>
              <a:tr h="603250">
                <a:tc>
                  <a:txBody>
                    <a:bodyPr/>
                    <a:lstStyle/>
                    <a:p>
                      <a:r>
                        <a:rPr sz="2250" b="0">
                          <a:solidFill>
                            <a:srgbClr val="172B3A"/>
                          </a:solidFill>
                          <a:latin typeface="Arial"/>
                          <a:ea typeface="Arial"/>
                          <a:cs typeface="Arial"/>
                        </a:rPr>
                        <a:t>M2</a:t>
                      </a:r>
                    </a:p>
                  </a:txBody>
                  <a:tcPr marL="91440" marR="91440" marT="45720" marB="45720">
                    <a:solidFill>
                      <a:srgbClr val="F1F6F8"/>
                    </a:solidFill>
                  </a:tcPr>
                </a:tc>
                <a:tc>
                  <a:txBody>
                    <a:bodyPr/>
                    <a:lstStyle/>
                    <a:p>
                      <a:r>
                        <a:rPr sz="2250" b="0">
                          <a:solidFill>
                            <a:srgbClr val="172B3A"/>
                          </a:solidFill>
                          <a:latin typeface="Arial"/>
                          <a:ea typeface="Arial"/>
                          <a:cs typeface="Arial"/>
                        </a:rPr>
                        <a:t>79.988,15</a:t>
                      </a:r>
                    </a:p>
                  </a:txBody>
                  <a:tcPr marL="91440" marR="91440" marT="45720" marB="45720">
                    <a:solidFill>
                      <a:srgbClr val="F1F6F8"/>
                    </a:solidFill>
                  </a:tcPr>
                </a:tc>
                <a:tc>
                  <a:txBody>
                    <a:bodyPr/>
                    <a:lstStyle/>
                    <a:p>
                      <a:r>
                        <a:rPr sz="2250" b="0">
                          <a:solidFill>
                            <a:srgbClr val="172B3A"/>
                          </a:solidFill>
                          <a:latin typeface="Arial"/>
                          <a:ea typeface="Arial"/>
                          <a:cs typeface="Arial"/>
                        </a:rPr>
                        <a:t>281,17</a:t>
                      </a:r>
                    </a:p>
                  </a:txBody>
                  <a:tcPr marL="91440" marR="91440" marT="45720" marB="45720">
                    <a:solidFill>
                      <a:srgbClr val="F1F6F8"/>
                    </a:solidFill>
                  </a:tcPr>
                </a:tc>
                <a:tc>
                  <a:txBody>
                    <a:bodyPr/>
                    <a:lstStyle/>
                    <a:p>
                      <a:r>
                        <a:rPr sz="2250" b="0">
                          <a:solidFill>
                            <a:srgbClr val="172B3A"/>
                          </a:solidFill>
                          <a:latin typeface="Arial"/>
                          <a:ea typeface="Arial"/>
                          <a:cs typeface="Arial"/>
                        </a:rPr>
                        <a:t>0,2409</a:t>
                      </a:r>
                    </a:p>
                  </a:txBody>
                  <a:tcPr marL="91440" marR="91440" marT="45720" marB="45720">
                    <a:solidFill>
                      <a:srgbClr val="F1F6F8"/>
                    </a:solidFill>
                  </a:tcPr>
                </a:tc>
              </a:tr>
              <a:tr h="603250">
                <a:tc>
                  <a:txBody>
                    <a:bodyPr/>
                    <a:lstStyle/>
                    <a:p>
                      <a:r>
                        <a:rPr sz="2250" b="0">
                          <a:solidFill>
                            <a:srgbClr val="172B3A"/>
                          </a:solidFill>
                          <a:latin typeface="Arial"/>
                          <a:ea typeface="Arial"/>
                          <a:cs typeface="Arial"/>
                        </a:rPr>
                        <a:t>M3</a:t>
                      </a:r>
                    </a:p>
                  </a:txBody>
                  <a:tcPr marL="91440" marR="91440" marT="45720" marB="45720">
                    <a:solidFill>
                      <a:srgbClr val="FFFFFF"/>
                    </a:solidFill>
                  </a:tcPr>
                </a:tc>
                <a:tc>
                  <a:txBody>
                    <a:bodyPr/>
                    <a:lstStyle/>
                    <a:p>
                      <a:r>
                        <a:rPr sz="2250" b="0">
                          <a:solidFill>
                            <a:srgbClr val="172B3A"/>
                          </a:solidFill>
                          <a:latin typeface="Arial"/>
                          <a:ea typeface="Arial"/>
                          <a:cs typeface="Arial"/>
                        </a:rPr>
                        <a:t>79.228,00</a:t>
                      </a:r>
                    </a:p>
                  </a:txBody>
                  <a:tcPr marL="91440" marR="91440" marT="45720" marB="45720">
                    <a:solidFill>
                      <a:srgbClr val="FFFFFF"/>
                    </a:solidFill>
                  </a:tcPr>
                </a:tc>
                <a:tc>
                  <a:txBody>
                    <a:bodyPr/>
                    <a:lstStyle/>
                    <a:p>
                      <a:r>
                        <a:rPr sz="2250" b="0">
                          <a:solidFill>
                            <a:srgbClr val="172B3A"/>
                          </a:solidFill>
                          <a:latin typeface="Arial"/>
                          <a:ea typeface="Arial"/>
                          <a:cs typeface="Arial"/>
                        </a:rPr>
                        <a:t>279,80</a:t>
                      </a:r>
                    </a:p>
                  </a:txBody>
                  <a:tcPr marL="91440" marR="91440" marT="45720" marB="45720">
                    <a:solidFill>
                      <a:srgbClr val="FFFFFF"/>
                    </a:solidFill>
                  </a:tcPr>
                </a:tc>
                <a:tc>
                  <a:txBody>
                    <a:bodyPr/>
                    <a:lstStyle/>
                    <a:p>
                      <a:r>
                        <a:rPr sz="2250" b="0">
                          <a:solidFill>
                            <a:srgbClr val="172B3A"/>
                          </a:solidFill>
                          <a:latin typeface="Arial"/>
                          <a:ea typeface="Arial"/>
                          <a:cs typeface="Arial"/>
                        </a:rPr>
                        <a:t>0,2483</a:t>
                      </a:r>
                    </a:p>
                  </a:txBody>
                  <a:tcPr marL="91440" marR="91440" marT="45720" marB="45720">
                    <a:solidFill>
                      <a:srgbClr val="FFFFFF"/>
                    </a:solidFill>
                  </a:tcPr>
                </a:tc>
              </a:tr>
              <a:tr h="603250">
                <a:tc>
                  <a:txBody>
                    <a:bodyPr/>
                    <a:lstStyle/>
                    <a:p>
                      <a:r>
                        <a:rPr sz="2250" b="0">
                          <a:solidFill>
                            <a:srgbClr val="172B3A"/>
                          </a:solidFill>
                          <a:latin typeface="Arial"/>
                          <a:ea typeface="Arial"/>
                          <a:cs typeface="Arial"/>
                        </a:rPr>
                        <a:t>M4</a:t>
                      </a:r>
                    </a:p>
                  </a:txBody>
                  <a:tcPr marL="91440" marR="91440" marT="45720" marB="45720">
                    <a:solidFill>
                      <a:srgbClr val="F1F6F8"/>
                    </a:solidFill>
                  </a:tcPr>
                </a:tc>
                <a:tc>
                  <a:txBody>
                    <a:bodyPr/>
                    <a:lstStyle/>
                    <a:p>
                      <a:r>
                        <a:rPr sz="2250" b="0">
                          <a:solidFill>
                            <a:srgbClr val="172B3A"/>
                          </a:solidFill>
                          <a:latin typeface="Arial"/>
                          <a:ea typeface="Arial"/>
                          <a:cs typeface="Arial"/>
                        </a:rPr>
                        <a:t>79.988,15</a:t>
                      </a:r>
                    </a:p>
                  </a:txBody>
                  <a:tcPr marL="91440" marR="91440" marT="45720" marB="45720">
                    <a:solidFill>
                      <a:srgbClr val="F1F6F8"/>
                    </a:solidFill>
                  </a:tcPr>
                </a:tc>
                <a:tc>
                  <a:txBody>
                    <a:bodyPr/>
                    <a:lstStyle/>
                    <a:p>
                      <a:r>
                        <a:rPr sz="2250" b="0">
                          <a:solidFill>
                            <a:srgbClr val="172B3A"/>
                          </a:solidFill>
                          <a:latin typeface="Arial"/>
                          <a:ea typeface="Arial"/>
                          <a:cs typeface="Arial"/>
                        </a:rPr>
                        <a:t>281,17</a:t>
                      </a:r>
                    </a:p>
                  </a:txBody>
                  <a:tcPr marL="91440" marR="91440" marT="45720" marB="45720">
                    <a:solidFill>
                      <a:srgbClr val="F1F6F8"/>
                    </a:solidFill>
                  </a:tcPr>
                </a:tc>
                <a:tc>
                  <a:txBody>
                    <a:bodyPr/>
                    <a:lstStyle/>
                    <a:p>
                      <a:r>
                        <a:rPr sz="2250" b="0">
                          <a:solidFill>
                            <a:srgbClr val="172B3A"/>
                          </a:solidFill>
                          <a:latin typeface="Arial"/>
                          <a:ea typeface="Arial"/>
                          <a:cs typeface="Arial"/>
                        </a:rPr>
                        <a:t>0,2409</a:t>
                      </a:r>
                    </a:p>
                  </a:txBody>
                  <a:tcPr marL="91440" marR="91440" marT="45720" marB="45720">
                    <a:solidFill>
                      <a:srgbClr val="F1F6F8"/>
                    </a:solidFill>
                  </a:tcPr>
                </a:tc>
              </a:tr>
            </a:tbl>
          </a:graphicData>
        </a:graphic>
      </p:graphicFrame>
      <p:sp>
        <p:nvSpPr>
          <p:cNvPr id="4" name="text-3">
            <a:extLst xmlns:a="http://schemas.openxmlformats.org/drawingml/2006/main">
              <a:ext uri="{FF2B5EF4-FFF2-40B4-BE49-F238E27FC236}">
                <a16:creationId xmlns:a16="http://schemas.microsoft.com/office/drawing/2014/main" id="{FCD7296F-758B-4DCF-954E-8C341AB34F7A}"/>
              </a:ext>
            </a:extLst>
          </p:cNvPr>
          <p:cNvSpPr>
            <a:spLocks xmlns:a="http://schemas.openxmlformats.org/drawingml/2006/main" noGrp="1"/>
          </p:cNvSpPr>
          <p:nvPr/>
        </p:nvSpPr>
        <p:spPr>
          <a:xfrm xmlns:a="http://schemas.openxmlformats.org/drawingml/2006/main">
            <a:off x="609600" y="54673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B3A"/>
                </a:solidFill>
                <a:latin typeface="Arial"/>
                <a:ea typeface="Arial"/>
                <a:cs typeface="Arial"/>
              </a:defRPr>
            </a:defPPr>
          </a:lstStyle>
          <a:p xmlns:a="http://schemas.openxmlformats.org/drawingml/2006/main">
            <a:pPr>
              <a:defRPr sz="2100" b="0">
                <a:solidFill>
                  <a:srgbClr val="172B3A"/>
                </a:solidFill>
                <a:latin typeface="Arial"/>
                <a:ea typeface="Arial"/>
                <a:cs typeface="Arial"/>
              </a:defRPr>
            </a:pPr>
            <a:r>
              <a:rPr sz="2100" b="0">
                <a:solidFill>
                  <a:srgbClr val="172B3A"/>
                </a:solidFill>
                <a:latin typeface="Arial"/>
                <a:ea typeface="Arial"/>
                <a:cs typeface="Arial"/>
              </a:rPr>
              <a:t>M3 bậc 3 có MSE CV thấp nhất: 79.228,00</a:t>
            </a:r>
          </a:p>
          <a:p xmlns:a="http://schemas.openxmlformats.org/drawingml/2006/main">
            <a:pPr>
              <a:defRPr sz="2100" b="0">
                <a:solidFill>
                  <a:srgbClr val="172B3A"/>
                </a:solidFill>
                <a:latin typeface="Arial"/>
                <a:ea typeface="Arial"/>
                <a:cs typeface="Arial"/>
              </a:defRPr>
            </a:pPr>
            <a:r>
              <a:rPr sz="2100" b="0">
                <a:solidFill>
                  <a:srgbClr val="172B3A"/>
                </a:solidFill>
                <a:latin typeface="Arial"/>
                <a:ea typeface="Arial"/>
                <a:cs typeface="Arial"/>
              </a:rPr>
              <a:t>M4 chọn alpha=0,1 trong họ Ridge; chưa dùng test để chọn</a:t>
            </a:r>
          </a:p>
        </p:txBody>
      </p:sp>
    </p:spTree>
    <p:extLst>
      <p:ext uri="{BB962C8B-B14F-4D97-AF65-F5344CB8AC3E}">
        <p14:creationId xmlns:p14="http://schemas.microsoft.com/office/powerpoint/2010/main" val="111803984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1">
            <a:extLst xmlns:a="http://schemas.openxmlformats.org/drawingml/2006/main">
              <a:ext uri="{FF2B5EF4-FFF2-40B4-BE49-F238E27FC236}">
                <a16:creationId xmlns:a16="http://schemas.microsoft.com/office/drawing/2014/main" id="{DBA83AD7-F7D6-4452-8F90-E5457C29403E}"/>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54A"/>
                </a:solidFill>
                <a:latin typeface="Arial"/>
                <a:ea typeface="Arial"/>
                <a:cs typeface="Arial"/>
              </a:defRPr>
            </a:defPPr>
          </a:lstStyle>
          <a:p xmlns:a="http://schemas.openxmlformats.org/drawingml/2006/main">
            <a:pPr>
              <a:defRPr sz="3150" b="1">
                <a:solidFill>
                  <a:srgbClr val="17354A"/>
                </a:solidFill>
                <a:latin typeface="Arial"/>
                <a:ea typeface="Arial"/>
                <a:cs typeface="Arial"/>
              </a:defRPr>
            </a:pPr>
            <a:r>
              <a:rPr sz="3150" b="1">
                <a:solidFill>
                  <a:srgbClr val="17354A"/>
                </a:solidFill>
                <a:latin typeface="Arial"/>
                <a:ea typeface="Arial"/>
                <a:cs typeface="Arial"/>
              </a:rPr>
              <a:t>Kết quả trên 10.342 mẫu test</a:t>
            </a:r>
          </a:p>
        </p:txBody>
      </p:sp>
      <p:sp>
        <p:nvSpPr>
          <p:cNvPr id="2" name="text-2">
            <a:extLst xmlns:a="http://schemas.openxmlformats.org/drawingml/2006/main">
              <a:ext uri="{FF2B5EF4-FFF2-40B4-BE49-F238E27FC236}">
                <a16:creationId xmlns:a16="http://schemas.microsoft.com/office/drawing/2014/main" id="{FC9B59C7-53B8-4B29-A5A0-A79B1E8AE2E8}"/>
              </a:ext>
            </a:extLst>
          </p:cNvPr>
          <p:cNvSpPr>
            <a:spLocks xmlns:a="http://schemas.openxmlformats.org/drawingml/2006/main" noGrp="1"/>
          </p:cNvSpPr>
          <p:nvPr/>
        </p:nvSpPr>
        <p:spPr>
          <a:xfrm xmlns:a="http://schemas.openxmlformats.org/drawingml/2006/main">
            <a:off x="11182350" y="64293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65B69"/>
                </a:solidFill>
                <a:latin typeface="Arial"/>
                <a:ea typeface="Arial"/>
                <a:cs typeface="Arial"/>
              </a:defRPr>
            </a:defPPr>
          </a:lstStyle>
          <a:p xmlns:a="http://schemas.openxmlformats.org/drawingml/2006/main">
            <a:pPr>
              <a:defRPr sz="1350" b="0">
                <a:solidFill>
                  <a:srgbClr val="465B69"/>
                </a:solidFill>
                <a:latin typeface="Arial"/>
                <a:ea typeface="Arial"/>
                <a:cs typeface="Arial"/>
              </a:defRPr>
            </a:pPr>
            <a:r>
              <a:rPr sz="1350" b="0">
                <a:solidFill>
                  <a:srgbClr val="465B69"/>
                </a:solidFill>
                <a:latin typeface="Arial"/>
                <a:ea typeface="Arial"/>
                <a:cs typeface="Arial"/>
              </a:rPr>
              <a:t>12</a:t>
            </a:r>
          </a:p>
        </p:txBody>
      </p:sp>
      <p:graphicFrame>
        <p:nvGraphicFramePr>
          <p:cNvPr id="3" name="">
            <a:extLst xmlns:a="http://schemas.openxmlformats.org/drawingml/2006/main">
              <a:ext uri="{FF2B5EF4-FFF2-40B4-BE49-F238E27FC236}">
                <a16:creationId xmlns:a16="http://schemas.microsoft.com/office/drawing/2014/main" id="{47BAA4BA-E0B4-4155-816F-265C8CE474C6}"/>
              </a:ext>
            </a:extLst>
          </p:cNvPr>
          <p:cNvGraphicFramePr/>
          <p:nvPr/>
        </p:nvGraphicFramePr>
        <p:xfrm>
          <a:off xmlns:a="http://schemas.openxmlformats.org/drawingml/2006/main" x="609600" y="1476375"/>
          <a:ext xmlns:a="http://schemas.openxmlformats.org/drawingml/2006/main" cx="10972800" cy="3333750"/>
        </p:xfrm>
        <a:graphic xmlns:a="http://schemas.openxmlformats.org/drawingml/2006/main">
          <a:graphicData uri="http://schemas.openxmlformats.org/drawingml/2006/table">
            <a:tbl>
              <a:tblPr/>
              <a:tblGrid>
                <a:gridCol w="2190750"/>
                <a:gridCol w="2857500"/>
                <a:gridCol w="2857500"/>
                <a:gridCol w="3067050"/>
              </a:tblGrid>
              <a:tr h="555625">
                <a:tc>
                  <a:txBody>
                    <a:bodyPr/>
                    <a:lstStyle/>
                    <a:p>
                      <a:r>
                        <a:rPr sz="2250" b="1">
                          <a:solidFill>
                            <a:srgbClr val="FFFFFF"/>
                          </a:solidFill>
                          <a:latin typeface="Arial"/>
                          <a:ea typeface="Arial"/>
                          <a:cs typeface="Arial"/>
                        </a:rPr>
                        <a:t>Mô hình</a:t>
                      </a:r>
                    </a:p>
                  </a:txBody>
                  <a:tcPr marL="91440" marR="91440" marT="45720" marB="45720">
                    <a:solidFill>
                      <a:srgbClr val="17354A"/>
                    </a:solidFill>
                  </a:tcPr>
                </a:tc>
                <a:tc>
                  <a:txBody>
                    <a:bodyPr/>
                    <a:lstStyle/>
                    <a:p>
                      <a:r>
                        <a:rPr sz="2250" b="1">
                          <a:solidFill>
                            <a:srgbClr val="FFFFFF"/>
                          </a:solidFill>
                          <a:latin typeface="Arial"/>
                          <a:ea typeface="Arial"/>
                          <a:cs typeface="Arial"/>
                        </a:rPr>
                        <a:t>RMSE</a:t>
                      </a:r>
                    </a:p>
                  </a:txBody>
                  <a:tcPr marL="91440" marR="91440" marT="45720" marB="45720">
                    <a:solidFill>
                      <a:srgbClr val="17354A"/>
                    </a:solidFill>
                  </a:tcPr>
                </a:tc>
                <a:tc>
                  <a:txBody>
                    <a:bodyPr/>
                    <a:lstStyle/>
                    <a:p>
                      <a:r>
                        <a:rPr sz="2250" b="1">
                          <a:solidFill>
                            <a:srgbClr val="FFFFFF"/>
                          </a:solidFill>
                          <a:latin typeface="Arial"/>
                          <a:ea typeface="Arial"/>
                          <a:cs typeface="Arial"/>
                        </a:rPr>
                        <a:t>MAE</a:t>
                      </a:r>
                    </a:p>
                  </a:txBody>
                  <a:tcPr marL="91440" marR="91440" marT="45720" marB="45720">
                    <a:solidFill>
                      <a:srgbClr val="17354A"/>
                    </a:solidFill>
                  </a:tcPr>
                </a:tc>
                <a:tc>
                  <a:txBody>
                    <a:bodyPr/>
                    <a:lstStyle/>
                    <a:p>
                      <a:r>
                        <a:rPr sz="2250" b="1">
                          <a:solidFill>
                            <a:srgbClr val="FFFFFF"/>
                          </a:solidFill>
                          <a:latin typeface="Arial"/>
                          <a:ea typeface="Arial"/>
                          <a:cs typeface="Arial"/>
                        </a:rPr>
                        <a:t>R²</a:t>
                      </a:r>
                    </a:p>
                  </a:txBody>
                  <a:tcPr marL="91440" marR="91440" marT="45720" marB="45720">
                    <a:solidFill>
                      <a:srgbClr val="17354A"/>
                    </a:solidFill>
                  </a:tcPr>
                </a:tc>
              </a:tr>
              <a:tr h="555625">
                <a:tc>
                  <a:txBody>
                    <a:bodyPr/>
                    <a:lstStyle/>
                    <a:p>
                      <a:r>
                        <a:rPr sz="2250" b="0">
                          <a:solidFill>
                            <a:srgbClr val="172B3A"/>
                          </a:solidFill>
                          <a:latin typeface="Arial"/>
                          <a:ea typeface="Arial"/>
                          <a:cs typeface="Arial"/>
                        </a:rPr>
                        <a:t>M0</a:t>
                      </a:r>
                    </a:p>
                  </a:txBody>
                  <a:tcPr marL="91440" marR="91440" marT="45720" marB="45720">
                    <a:solidFill>
                      <a:srgbClr val="F1F6F8"/>
                    </a:solidFill>
                  </a:tcPr>
                </a:tc>
                <a:tc>
                  <a:txBody>
                    <a:bodyPr/>
                    <a:lstStyle/>
                    <a:p>
                      <a:r>
                        <a:rPr sz="2250" b="0">
                          <a:solidFill>
                            <a:srgbClr val="172B3A"/>
                          </a:solidFill>
                          <a:latin typeface="Arial"/>
                          <a:ea typeface="Arial"/>
                          <a:cs typeface="Arial"/>
                        </a:rPr>
                        <a:t>346,60</a:t>
                      </a:r>
                    </a:p>
                  </a:txBody>
                  <a:tcPr marL="91440" marR="91440" marT="45720" marB="45720">
                    <a:solidFill>
                      <a:srgbClr val="F1F6F8"/>
                    </a:solidFill>
                  </a:tcPr>
                </a:tc>
                <a:tc>
                  <a:txBody>
                    <a:bodyPr/>
                    <a:lstStyle/>
                    <a:p>
                      <a:r>
                        <a:rPr sz="2250" b="0">
                          <a:solidFill>
                            <a:srgbClr val="172B3A"/>
                          </a:solidFill>
                          <a:latin typeface="Arial"/>
                          <a:ea typeface="Arial"/>
                          <a:cs typeface="Arial"/>
                        </a:rPr>
                        <a:t>144,86</a:t>
                      </a:r>
                    </a:p>
                  </a:txBody>
                  <a:tcPr marL="91440" marR="91440" marT="45720" marB="45720">
                    <a:solidFill>
                      <a:srgbClr val="F1F6F8"/>
                    </a:solidFill>
                  </a:tcPr>
                </a:tc>
                <a:tc>
                  <a:txBody>
                    <a:bodyPr/>
                    <a:lstStyle/>
                    <a:p>
                      <a:r>
                        <a:rPr sz="2250" b="0">
                          <a:solidFill>
                            <a:srgbClr val="172B3A"/>
                          </a:solidFill>
                          <a:latin typeface="Arial"/>
                          <a:ea typeface="Arial"/>
                          <a:cs typeface="Arial"/>
                        </a:rPr>
                        <a:t>-0,0000</a:t>
                      </a:r>
                    </a:p>
                  </a:txBody>
                  <a:tcPr marL="91440" marR="91440" marT="45720" marB="45720">
                    <a:solidFill>
                      <a:srgbClr val="F1F6F8"/>
                    </a:solidFill>
                  </a:tcPr>
                </a:tc>
              </a:tr>
              <a:tr h="555625">
                <a:tc>
                  <a:txBody>
                    <a:bodyPr/>
                    <a:lstStyle/>
                    <a:p>
                      <a:r>
                        <a:rPr sz="2250" b="0">
                          <a:solidFill>
                            <a:srgbClr val="172B3A"/>
                          </a:solidFill>
                          <a:latin typeface="Arial"/>
                          <a:ea typeface="Arial"/>
                          <a:cs typeface="Arial"/>
                        </a:rPr>
                        <a:t>M1</a:t>
                      </a:r>
                    </a:p>
                  </a:txBody>
                  <a:tcPr marL="91440" marR="91440" marT="45720" marB="45720">
                    <a:solidFill>
                      <a:srgbClr val="FFFFFF"/>
                    </a:solidFill>
                  </a:tcPr>
                </a:tc>
                <a:tc>
                  <a:txBody>
                    <a:bodyPr/>
                    <a:lstStyle/>
                    <a:p>
                      <a:r>
                        <a:rPr sz="2250" b="0">
                          <a:solidFill>
                            <a:srgbClr val="172B3A"/>
                          </a:solidFill>
                          <a:latin typeface="Arial"/>
                          <a:ea typeface="Arial"/>
                          <a:cs typeface="Arial"/>
                        </a:rPr>
                        <a:t>340,42</a:t>
                      </a:r>
                    </a:p>
                  </a:txBody>
                  <a:tcPr marL="91440" marR="91440" marT="45720" marB="45720">
                    <a:solidFill>
                      <a:srgbClr val="FFFFFF"/>
                    </a:solidFill>
                  </a:tcPr>
                </a:tc>
                <a:tc>
                  <a:txBody>
                    <a:bodyPr/>
                    <a:lstStyle/>
                    <a:p>
                      <a:r>
                        <a:rPr sz="2250" b="0">
                          <a:solidFill>
                            <a:srgbClr val="172B3A"/>
                          </a:solidFill>
                          <a:latin typeface="Arial"/>
                          <a:ea typeface="Arial"/>
                          <a:cs typeface="Arial"/>
                        </a:rPr>
                        <a:t>137,12</a:t>
                      </a:r>
                    </a:p>
                  </a:txBody>
                  <a:tcPr marL="91440" marR="91440" marT="45720" marB="45720">
                    <a:solidFill>
                      <a:srgbClr val="FFFFFF"/>
                    </a:solidFill>
                  </a:tcPr>
                </a:tc>
                <a:tc>
                  <a:txBody>
                    <a:bodyPr/>
                    <a:lstStyle/>
                    <a:p>
                      <a:r>
                        <a:rPr sz="2250" b="0">
                          <a:solidFill>
                            <a:srgbClr val="172B3A"/>
                          </a:solidFill>
                          <a:latin typeface="Arial"/>
                          <a:ea typeface="Arial"/>
                          <a:cs typeface="Arial"/>
                        </a:rPr>
                        <a:t>0,0353</a:t>
                      </a:r>
                    </a:p>
                  </a:txBody>
                  <a:tcPr marL="91440" marR="91440" marT="45720" marB="45720">
                    <a:solidFill>
                      <a:srgbClr val="FFFFFF"/>
                    </a:solidFill>
                  </a:tcPr>
                </a:tc>
              </a:tr>
              <a:tr h="555625">
                <a:tc>
                  <a:txBody>
                    <a:bodyPr/>
                    <a:lstStyle/>
                    <a:p>
                      <a:r>
                        <a:rPr sz="2250" b="0">
                          <a:solidFill>
                            <a:srgbClr val="172B3A"/>
                          </a:solidFill>
                          <a:latin typeface="Arial"/>
                          <a:ea typeface="Arial"/>
                          <a:cs typeface="Arial"/>
                        </a:rPr>
                        <a:t>M2</a:t>
                      </a:r>
                    </a:p>
                  </a:txBody>
                  <a:tcPr marL="91440" marR="91440" marT="45720" marB="45720">
                    <a:solidFill>
                      <a:srgbClr val="F1F6F8"/>
                    </a:solidFill>
                  </a:tcPr>
                </a:tc>
                <a:tc>
                  <a:txBody>
                    <a:bodyPr/>
                    <a:lstStyle/>
                    <a:p>
                      <a:r>
                        <a:rPr sz="2250" b="0">
                          <a:solidFill>
                            <a:srgbClr val="172B3A"/>
                          </a:solidFill>
                          <a:latin typeface="Arial"/>
                          <a:ea typeface="Arial"/>
                          <a:cs typeface="Arial"/>
                        </a:rPr>
                        <a:t>312,99</a:t>
                      </a:r>
                    </a:p>
                  </a:txBody>
                  <a:tcPr marL="91440" marR="91440" marT="45720" marB="45720">
                    <a:solidFill>
                      <a:srgbClr val="F1F6F8"/>
                    </a:solidFill>
                  </a:tcPr>
                </a:tc>
                <a:tc>
                  <a:txBody>
                    <a:bodyPr/>
                    <a:lstStyle/>
                    <a:p>
                      <a:r>
                        <a:rPr sz="2250" b="0">
                          <a:solidFill>
                            <a:srgbClr val="172B3A"/>
                          </a:solidFill>
                          <a:latin typeface="Arial"/>
                          <a:ea typeface="Arial"/>
                          <a:cs typeface="Arial"/>
                        </a:rPr>
                        <a:t>103,76</a:t>
                      </a:r>
                    </a:p>
                  </a:txBody>
                  <a:tcPr marL="91440" marR="91440" marT="45720" marB="45720">
                    <a:solidFill>
                      <a:srgbClr val="F1F6F8"/>
                    </a:solidFill>
                  </a:tcPr>
                </a:tc>
                <a:tc>
                  <a:txBody>
                    <a:bodyPr/>
                    <a:lstStyle/>
                    <a:p>
                      <a:r>
                        <a:rPr sz="2250" b="0">
                          <a:solidFill>
                            <a:srgbClr val="172B3A"/>
                          </a:solidFill>
                          <a:latin typeface="Arial"/>
                          <a:ea typeface="Arial"/>
                          <a:cs typeface="Arial"/>
                        </a:rPr>
                        <a:t>0,1845</a:t>
                      </a:r>
                    </a:p>
                  </a:txBody>
                  <a:tcPr marL="91440" marR="91440" marT="45720" marB="45720">
                    <a:solidFill>
                      <a:srgbClr val="F1F6F8"/>
                    </a:solidFill>
                  </a:tcPr>
                </a:tc>
              </a:tr>
              <a:tr h="555625">
                <a:tc>
                  <a:txBody>
                    <a:bodyPr/>
                    <a:lstStyle/>
                    <a:p>
                      <a:r>
                        <a:rPr sz="2250" b="0">
                          <a:solidFill>
                            <a:srgbClr val="172B3A"/>
                          </a:solidFill>
                          <a:latin typeface="Arial"/>
                          <a:ea typeface="Arial"/>
                          <a:cs typeface="Arial"/>
                        </a:rPr>
                        <a:t>M3</a:t>
                      </a:r>
                    </a:p>
                  </a:txBody>
                  <a:tcPr marL="91440" marR="91440" marT="45720" marB="45720">
                    <a:solidFill>
                      <a:srgbClr val="FFFFFF"/>
                    </a:solidFill>
                  </a:tcPr>
                </a:tc>
                <a:tc>
                  <a:txBody>
                    <a:bodyPr/>
                    <a:lstStyle/>
                    <a:p>
                      <a:r>
                        <a:rPr sz="2250" b="0">
                          <a:solidFill>
                            <a:srgbClr val="172B3A"/>
                          </a:solidFill>
                          <a:latin typeface="Arial"/>
                          <a:ea typeface="Arial"/>
                          <a:cs typeface="Arial"/>
                        </a:rPr>
                        <a:t>311,70</a:t>
                      </a:r>
                    </a:p>
                  </a:txBody>
                  <a:tcPr marL="91440" marR="91440" marT="45720" marB="45720">
                    <a:solidFill>
                      <a:srgbClr val="FFFFFF"/>
                    </a:solidFill>
                  </a:tcPr>
                </a:tc>
                <a:tc>
                  <a:txBody>
                    <a:bodyPr/>
                    <a:lstStyle/>
                    <a:p>
                      <a:r>
                        <a:rPr sz="2250" b="0">
                          <a:solidFill>
                            <a:srgbClr val="172B3A"/>
                          </a:solidFill>
                          <a:latin typeface="Arial"/>
                          <a:ea typeface="Arial"/>
                          <a:cs typeface="Arial"/>
                        </a:rPr>
                        <a:t>102,02</a:t>
                      </a:r>
                    </a:p>
                  </a:txBody>
                  <a:tcPr marL="91440" marR="91440" marT="45720" marB="45720">
                    <a:solidFill>
                      <a:srgbClr val="FFFFFF"/>
                    </a:solidFill>
                  </a:tcPr>
                </a:tc>
                <a:tc>
                  <a:txBody>
                    <a:bodyPr/>
                    <a:lstStyle/>
                    <a:p>
                      <a:r>
                        <a:rPr sz="2250" b="0">
                          <a:solidFill>
                            <a:srgbClr val="172B3A"/>
                          </a:solidFill>
                          <a:latin typeface="Arial"/>
                          <a:ea typeface="Arial"/>
                          <a:cs typeface="Arial"/>
                        </a:rPr>
                        <a:t>0,1912</a:t>
                      </a:r>
                    </a:p>
                  </a:txBody>
                  <a:tcPr marL="91440" marR="91440" marT="45720" marB="45720">
                    <a:solidFill>
                      <a:srgbClr val="FFFFFF"/>
                    </a:solidFill>
                  </a:tcPr>
                </a:tc>
              </a:tr>
              <a:tr h="555625">
                <a:tc>
                  <a:txBody>
                    <a:bodyPr/>
                    <a:lstStyle/>
                    <a:p>
                      <a:r>
                        <a:rPr sz="2250" b="0">
                          <a:solidFill>
                            <a:srgbClr val="172B3A"/>
                          </a:solidFill>
                          <a:latin typeface="Arial"/>
                          <a:ea typeface="Arial"/>
                          <a:cs typeface="Arial"/>
                        </a:rPr>
                        <a:t>M4</a:t>
                      </a:r>
                    </a:p>
                  </a:txBody>
                  <a:tcPr marL="91440" marR="91440" marT="45720" marB="45720">
                    <a:solidFill>
                      <a:srgbClr val="F1F6F8"/>
                    </a:solidFill>
                  </a:tcPr>
                </a:tc>
                <a:tc>
                  <a:txBody>
                    <a:bodyPr/>
                    <a:lstStyle/>
                    <a:p>
                      <a:r>
                        <a:rPr sz="2250" b="0">
                          <a:solidFill>
                            <a:srgbClr val="172B3A"/>
                          </a:solidFill>
                          <a:latin typeface="Arial"/>
                          <a:ea typeface="Arial"/>
                          <a:cs typeface="Arial"/>
                        </a:rPr>
                        <a:t>312,99</a:t>
                      </a:r>
                    </a:p>
                  </a:txBody>
                  <a:tcPr marL="91440" marR="91440" marT="45720" marB="45720">
                    <a:solidFill>
                      <a:srgbClr val="F1F6F8"/>
                    </a:solidFill>
                  </a:tcPr>
                </a:tc>
                <a:tc>
                  <a:txBody>
                    <a:bodyPr/>
                    <a:lstStyle/>
                    <a:p>
                      <a:r>
                        <a:rPr sz="2250" b="0">
                          <a:solidFill>
                            <a:srgbClr val="172B3A"/>
                          </a:solidFill>
                          <a:latin typeface="Arial"/>
                          <a:ea typeface="Arial"/>
                          <a:cs typeface="Arial"/>
                        </a:rPr>
                        <a:t>103,76</a:t>
                      </a:r>
                    </a:p>
                  </a:txBody>
                  <a:tcPr marL="91440" marR="91440" marT="45720" marB="45720">
                    <a:solidFill>
                      <a:srgbClr val="F1F6F8"/>
                    </a:solidFill>
                  </a:tcPr>
                </a:tc>
                <a:tc>
                  <a:txBody>
                    <a:bodyPr/>
                    <a:lstStyle/>
                    <a:p>
                      <a:r>
                        <a:rPr sz="2250" b="0">
                          <a:solidFill>
                            <a:srgbClr val="172B3A"/>
                          </a:solidFill>
                          <a:latin typeface="Arial"/>
                          <a:ea typeface="Arial"/>
                          <a:cs typeface="Arial"/>
                        </a:rPr>
                        <a:t>0,1845</a:t>
                      </a:r>
                    </a:p>
                  </a:txBody>
                  <a:tcPr marL="91440" marR="91440" marT="45720" marB="45720">
                    <a:solidFill>
                      <a:srgbClr val="F1F6F8"/>
                    </a:solidFill>
                  </a:tcPr>
                </a:tc>
              </a:tr>
            </a:tbl>
          </a:graphicData>
        </a:graphic>
      </p:graphicFrame>
      <p:sp>
        <p:nvSpPr>
          <p:cNvPr id="4" name="text-3">
            <a:extLst xmlns:a="http://schemas.openxmlformats.org/drawingml/2006/main">
              <a:ext uri="{FF2B5EF4-FFF2-40B4-BE49-F238E27FC236}">
                <a16:creationId xmlns:a16="http://schemas.microsoft.com/office/drawing/2014/main" id="{4FCC8E60-62FB-4047-9E34-89EB0DB35261}"/>
              </a:ext>
            </a:extLst>
          </p:cNvPr>
          <p:cNvSpPr>
            <a:spLocks xmlns:a="http://schemas.openxmlformats.org/drawingml/2006/main" noGrp="1"/>
          </p:cNvSpPr>
          <p:nvPr/>
        </p:nvSpPr>
        <p:spPr>
          <a:xfrm xmlns:a="http://schemas.openxmlformats.org/drawingml/2006/main">
            <a:off x="609600" y="52578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2B3A"/>
                </a:solidFill>
                <a:latin typeface="Arial"/>
                <a:ea typeface="Arial"/>
                <a:cs typeface="Arial"/>
              </a:defRPr>
            </a:defPPr>
          </a:lstStyle>
          <a:p xmlns:a="http://schemas.openxmlformats.org/drawingml/2006/main">
            <a:pPr>
              <a:defRPr sz="2250" b="0">
                <a:solidFill>
                  <a:srgbClr val="172B3A"/>
                </a:solidFill>
                <a:latin typeface="Arial"/>
                <a:ea typeface="Arial"/>
                <a:cs typeface="Arial"/>
              </a:defRPr>
            </a:pPr>
            <a:r>
              <a:rPr sz="2250" b="0">
                <a:solidFill>
                  <a:srgbClr val="172B3A"/>
                </a:solidFill>
                <a:latin typeface="Arial"/>
                <a:ea typeface="Arial"/>
                <a:cs typeface="Arial"/>
              </a:rPr>
              <a:t>M3: MSE giảm 19,12% so với M0 trên cùng test</a:t>
            </a:r>
          </a:p>
          <a:p xmlns:a="http://schemas.openxmlformats.org/drawingml/2006/main">
            <a:pPr>
              <a:defRPr sz="2250" b="0">
                <a:solidFill>
                  <a:srgbClr val="172B3A"/>
                </a:solidFill>
                <a:latin typeface="Arial"/>
                <a:ea typeface="Arial"/>
                <a:cs typeface="Arial"/>
              </a:defRPr>
            </a:pPr>
            <a:r>
              <a:rPr sz="2250" b="0">
                <a:solidFill>
                  <a:srgbClr val="172B3A"/>
                </a:solidFill>
                <a:latin typeface="Arial"/>
                <a:ea typeface="Arial"/>
                <a:cs typeface="Arial"/>
              </a:rPr>
              <a:t>1% mẫu chiếm 86,08% SSE; 167 dự đoán âm giữ nguyên</a:t>
            </a:r>
          </a:p>
        </p:txBody>
      </p:sp>
    </p:spTree>
    <p:extLst>
      <p:ext uri="{BB962C8B-B14F-4D97-AF65-F5344CB8AC3E}">
        <p14:creationId xmlns:p14="http://schemas.microsoft.com/office/powerpoint/2010/main" val="110446462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1">
            <a:extLst xmlns:a="http://schemas.openxmlformats.org/drawingml/2006/main">
              <a:ext uri="{FF2B5EF4-FFF2-40B4-BE49-F238E27FC236}">
                <a16:creationId xmlns:a16="http://schemas.microsoft.com/office/drawing/2014/main" id="{ACCDBA44-4999-4C0C-82D9-A12DB8B19C4F}"/>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54A"/>
                </a:solidFill>
                <a:latin typeface="Arial"/>
                <a:ea typeface="Arial"/>
                <a:cs typeface="Arial"/>
              </a:defRPr>
            </a:defPPr>
          </a:lstStyle>
          <a:p xmlns:a="http://schemas.openxmlformats.org/drawingml/2006/main">
            <a:pPr>
              <a:defRPr sz="3150" b="1">
                <a:solidFill>
                  <a:srgbClr val="17354A"/>
                </a:solidFill>
                <a:latin typeface="Arial"/>
                <a:ea typeface="Arial"/>
                <a:cs typeface="Arial"/>
              </a:defRPr>
            </a:pPr>
            <a:r>
              <a:rPr sz="3150" b="1">
                <a:solidFill>
                  <a:srgbClr val="17354A"/>
                </a:solidFill>
                <a:latin typeface="Arial"/>
                <a:ea typeface="Arial"/>
                <a:cs typeface="Arial"/>
              </a:rPr>
              <a:t>Kết luận và giới hạn</a:t>
            </a:r>
          </a:p>
        </p:txBody>
      </p:sp>
      <p:sp>
        <p:nvSpPr>
          <p:cNvPr id="2" name="text-2">
            <a:extLst xmlns:a="http://schemas.openxmlformats.org/drawingml/2006/main">
              <a:ext uri="{FF2B5EF4-FFF2-40B4-BE49-F238E27FC236}">
                <a16:creationId xmlns:a16="http://schemas.microsoft.com/office/drawing/2014/main" id="{4F7BEA56-8EAD-4D18-ADC0-0C15D71CBD89}"/>
              </a:ext>
            </a:extLst>
          </p:cNvPr>
          <p:cNvSpPr>
            <a:spLocks xmlns:a="http://schemas.openxmlformats.org/drawingml/2006/main" noGrp="1"/>
          </p:cNvSpPr>
          <p:nvPr/>
        </p:nvSpPr>
        <p:spPr>
          <a:xfrm xmlns:a="http://schemas.openxmlformats.org/drawingml/2006/main">
            <a:off x="11182350" y="64293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65B69"/>
                </a:solidFill>
                <a:latin typeface="Arial"/>
                <a:ea typeface="Arial"/>
                <a:cs typeface="Arial"/>
              </a:defRPr>
            </a:defPPr>
          </a:lstStyle>
          <a:p xmlns:a="http://schemas.openxmlformats.org/drawingml/2006/main">
            <a:pPr>
              <a:defRPr sz="1350" b="0">
                <a:solidFill>
                  <a:srgbClr val="465B69"/>
                </a:solidFill>
                <a:latin typeface="Arial"/>
                <a:ea typeface="Arial"/>
                <a:cs typeface="Arial"/>
              </a:defRPr>
            </a:pPr>
            <a:r>
              <a:rPr sz="1350" b="0">
                <a:solidFill>
                  <a:srgbClr val="465B69"/>
                </a:solidFill>
                <a:latin typeface="Arial"/>
                <a:ea typeface="Arial"/>
                <a:cs typeface="Arial"/>
              </a:rPr>
              <a:t>13</a:t>
            </a:r>
          </a:p>
        </p:txBody>
      </p:sp>
      <p:sp>
        <p:nvSpPr>
          <p:cNvPr id="3" name="text-3">
            <a:extLst xmlns:a="http://schemas.openxmlformats.org/drawingml/2006/main">
              <a:ext uri="{FF2B5EF4-FFF2-40B4-BE49-F238E27FC236}">
                <a16:creationId xmlns:a16="http://schemas.microsoft.com/office/drawing/2014/main" id="{D290445A-00B3-45AD-85E7-224FE12362EB}"/>
              </a:ext>
            </a:extLst>
          </p:cNvPr>
          <p:cNvSpPr>
            <a:spLocks xmlns:a="http://schemas.openxmlformats.org/drawingml/2006/main" noGrp="1"/>
          </p:cNvSpPr>
          <p:nvPr/>
        </p:nvSpPr>
        <p:spPr>
          <a:xfrm xmlns:a="http://schemas.openxmlformats.org/drawingml/2006/main">
            <a:off x="609600" y="14763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2B3A"/>
                </a:solidFill>
                <a:latin typeface="Arial"/>
                <a:ea typeface="Arial"/>
                <a:cs typeface="Arial"/>
              </a:defRPr>
            </a:defPPr>
          </a:lstStyle>
          <a:p xmlns:a="http://schemas.openxmlformats.org/drawingml/2006/main">
            <a:pPr>
              <a:defRPr sz="2250" b="0">
                <a:solidFill>
                  <a:srgbClr val="172B3A"/>
                </a:solidFill>
                <a:latin typeface="Arial"/>
                <a:ea typeface="Arial"/>
                <a:cs typeface="Arial"/>
              </a:defRPr>
            </a:pPr>
            <a:r>
              <a:rPr sz="2250" b="0">
                <a:solidFill>
                  <a:srgbClr val="172B3A"/>
                </a:solidFill>
                <a:latin typeface="Arial"/>
                <a:ea typeface="Arial"/>
                <a:cs typeface="Arial"/>
              </a:rPr>
              <a:t>M3 được chọn bằng CV, R² test đạt 0,1912</a:t>
            </a:r>
          </a:p>
        </p:txBody>
      </p:sp>
      <p:sp>
        <p:nvSpPr>
          <p:cNvPr id="4" name="text-4">
            <a:extLst xmlns:a="http://schemas.openxmlformats.org/drawingml/2006/main">
              <a:ext uri="{FF2B5EF4-FFF2-40B4-BE49-F238E27FC236}">
                <a16:creationId xmlns:a16="http://schemas.microsoft.com/office/drawing/2014/main" id="{0C74D5B4-6A02-4921-8671-755A2CA34B9C}"/>
              </a:ext>
            </a:extLst>
          </p:cNvPr>
          <p:cNvSpPr>
            <a:spLocks xmlns:a="http://schemas.openxmlformats.org/drawingml/2006/main" noGrp="1"/>
          </p:cNvSpPr>
          <p:nvPr/>
        </p:nvSpPr>
        <p:spPr>
          <a:xfrm xmlns:a="http://schemas.openxmlformats.org/drawingml/2006/main">
            <a:off x="609600" y="22955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2B3A"/>
                </a:solidFill>
                <a:latin typeface="Arial"/>
                <a:ea typeface="Arial"/>
                <a:cs typeface="Arial"/>
              </a:defRPr>
            </a:defPPr>
          </a:lstStyle>
          <a:p xmlns:a="http://schemas.openxmlformats.org/drawingml/2006/main">
            <a:pPr>
              <a:defRPr sz="2250" b="0">
                <a:solidFill>
                  <a:srgbClr val="172B3A"/>
                </a:solidFill>
                <a:latin typeface="Arial"/>
                <a:ea typeface="Arial"/>
                <a:cs typeface="Arial"/>
              </a:defRPr>
            </a:pPr>
            <a:r>
              <a:rPr sz="2250" b="0">
                <a:solidFill>
                  <a:srgbClr val="172B3A"/>
                </a:solidFill>
                <a:latin typeface="Arial"/>
                <a:ea typeface="Arial"/>
                <a:cs typeface="Arial"/>
              </a:rPr>
              <a:t>MSE test giảm 19,12% so với dự đoán trung bình</a:t>
            </a:r>
          </a:p>
        </p:txBody>
      </p:sp>
      <p:sp>
        <p:nvSpPr>
          <p:cNvPr id="5" name="text-5">
            <a:extLst xmlns:a="http://schemas.openxmlformats.org/drawingml/2006/main">
              <a:ext uri="{FF2B5EF4-FFF2-40B4-BE49-F238E27FC236}">
                <a16:creationId xmlns:a16="http://schemas.microsoft.com/office/drawing/2014/main" id="{60A7A8F3-A987-4A36-8483-D0722D6C59DF}"/>
              </a:ext>
            </a:extLst>
          </p:cNvPr>
          <p:cNvSpPr>
            <a:spLocks xmlns:a="http://schemas.openxmlformats.org/drawingml/2006/main" noGrp="1"/>
          </p:cNvSpPr>
          <p:nvPr/>
        </p:nvSpPr>
        <p:spPr>
          <a:xfrm xmlns:a="http://schemas.openxmlformats.org/drawingml/2006/main">
            <a:off x="609600" y="31146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2B3A"/>
                </a:solidFill>
                <a:latin typeface="Arial"/>
                <a:ea typeface="Arial"/>
                <a:cs typeface="Arial"/>
              </a:defRPr>
            </a:defPPr>
          </a:lstStyle>
          <a:p xmlns:a="http://schemas.openxmlformats.org/drawingml/2006/main">
            <a:pPr>
              <a:defRPr sz="2250" b="0">
                <a:solidFill>
                  <a:srgbClr val="172B3A"/>
                </a:solidFill>
                <a:latin typeface="Arial"/>
                <a:ea typeface="Arial"/>
                <a:cs typeface="Arial"/>
              </a:defRPr>
            </a:pPr>
            <a:r>
              <a:rPr sz="2250" b="0">
                <a:solidFill>
                  <a:srgbClr val="172B3A"/>
                </a:solidFill>
                <a:latin typeface="Arial"/>
                <a:ea typeface="Arial"/>
                <a:cs typeface="Arial"/>
              </a:rPr>
              <a:t>Giá lệch mạnh, sai số tập trung, có dự đoán âm</a:t>
            </a:r>
          </a:p>
        </p:txBody>
      </p:sp>
      <p:sp>
        <p:nvSpPr>
          <p:cNvPr id="6" name="text-6">
            <a:extLst xmlns:a="http://schemas.openxmlformats.org/drawingml/2006/main">
              <a:ext uri="{FF2B5EF4-FFF2-40B4-BE49-F238E27FC236}">
                <a16:creationId xmlns:a16="http://schemas.microsoft.com/office/drawing/2014/main" id="{51471A15-0D6D-46AB-89DA-EF00E231E932}"/>
              </a:ext>
            </a:extLst>
          </p:cNvPr>
          <p:cNvSpPr>
            <a:spLocks xmlns:a="http://schemas.openxmlformats.org/drawingml/2006/main" noGrp="1"/>
          </p:cNvSpPr>
          <p:nvPr/>
        </p:nvSpPr>
        <p:spPr>
          <a:xfrm xmlns:a="http://schemas.openxmlformats.org/drawingml/2006/main">
            <a:off x="609600" y="39338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2B3A"/>
                </a:solidFill>
                <a:latin typeface="Arial"/>
                <a:ea typeface="Arial"/>
                <a:cs typeface="Arial"/>
              </a:defRPr>
            </a:defPPr>
          </a:lstStyle>
          <a:p xmlns:a="http://schemas.openxmlformats.org/drawingml/2006/main">
            <a:pPr>
              <a:defRPr sz="2250" b="0">
                <a:solidFill>
                  <a:srgbClr val="172B3A"/>
                </a:solidFill>
                <a:latin typeface="Arial"/>
                <a:ea typeface="Arial"/>
                <a:cs typeface="Arial"/>
              </a:defRPr>
            </a:pPr>
            <a:r>
              <a:rPr sz="2250" b="0">
                <a:solidFill>
                  <a:srgbClr val="172B3A"/>
                </a:solidFill>
                <a:latin typeface="Arial"/>
                <a:ea typeface="Arial"/>
                <a:cs typeface="Arial"/>
              </a:rPr>
              <a:t>Thiếu metadata kỳ giá và listing ID</a:t>
            </a:r>
          </a:p>
        </p:txBody>
      </p:sp>
      <p:sp>
        <p:nvSpPr>
          <p:cNvPr id="7" name="text-7">
            <a:extLst xmlns:a="http://schemas.openxmlformats.org/drawingml/2006/main">
              <a:ext uri="{FF2B5EF4-FFF2-40B4-BE49-F238E27FC236}">
                <a16:creationId xmlns:a16="http://schemas.microsoft.com/office/drawing/2014/main" id="{1F70FF2C-4C0A-4457-8424-576AF7A57BBB}"/>
              </a:ext>
            </a:extLst>
          </p:cNvPr>
          <p:cNvSpPr>
            <a:spLocks xmlns:a="http://schemas.openxmlformats.org/drawingml/2006/main" noGrp="1"/>
          </p:cNvSpPr>
          <p:nvPr/>
        </p:nvSpPr>
        <p:spPr>
          <a:xfrm xmlns:a="http://schemas.openxmlformats.org/drawingml/2006/main">
            <a:off x="609600" y="47529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2B3A"/>
                </a:solidFill>
                <a:latin typeface="Arial"/>
                <a:ea typeface="Arial"/>
                <a:cs typeface="Arial"/>
              </a:defRPr>
            </a:defPPr>
          </a:lstStyle>
          <a:p xmlns:a="http://schemas.openxmlformats.org/drawingml/2006/main">
            <a:pPr>
              <a:defRPr sz="2250" b="0">
                <a:solidFill>
                  <a:srgbClr val="172B3A"/>
                </a:solidFill>
                <a:latin typeface="Arial"/>
                <a:ea typeface="Arial"/>
                <a:cs typeface="Arial"/>
              </a:defRPr>
            </a:pPr>
            <a:r>
              <a:rPr sz="2250" b="0">
                <a:solidFill>
                  <a:srgbClr val="172B3A"/>
                </a:solidFill>
                <a:latin typeface="Arial"/>
                <a:ea typeface="Arial"/>
                <a:cs typeface="Arial"/>
              </a:rPr>
              <a:t>Kết quả trên bộ dữ liệu cung cấp, chưa xác thực bên ngoài</a:t>
            </a:r>
          </a:p>
        </p:txBody>
      </p:sp>
    </p:spTree>
    <p:extLst>
      <p:ext uri="{BB962C8B-B14F-4D97-AF65-F5344CB8AC3E}">
        <p14:creationId xmlns:p14="http://schemas.microsoft.com/office/powerpoint/2010/main" val="8063673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2026-10-13T14:27:40.2080000Z</dcterms:created>
  <dcterms:modified xsi:type="dcterms:W3CDTF">2026-10-13T14:27:40.2080000Z</dcterms:modified>
</coreProperties>
</file>